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F"/>
        </a:solidFill>
      </p:bgPr>
    </p:bg>
    <p:spTree>
      <p:nvGrpSpPr>
        <p:cNvPr id="1" name=""/>
        <p:cNvGrpSpPr/>
        <p:nvPr/>
      </p:nvGrpSpPr>
      <p:grpSpPr>
        <a:xfrm>
          <a:off x="0" y="0"/>
          <a:ext cx="0" cy="0"/>
          <a:chOff x="0" y="0"/>
          <a:chExt cx="0" cy="0"/>
        </a:xfrm>
      </p:grpSpPr>
      <p:sp>
        <p:nvSpPr>
          <p:cNvPr id="2" name="Shape 0"/>
          <p:cNvSpPr/>
          <p:nvPr/>
        </p:nvSpPr>
        <p:spPr>
          <a:xfrm>
            <a:off x="8961120" y="-2286000"/>
            <a:ext cx="6400800" cy="6400800"/>
          </a:xfrm>
          <a:prstGeom prst="ellipse">
            <a:avLst/>
          </a:prstGeom>
          <a:solidFill>
            <a:srgbClr val="13284D"/>
          </a:solidFill>
          <a:ln/>
        </p:spPr>
      </p:sp>
      <p:sp>
        <p:nvSpPr>
          <p:cNvPr id="3" name="Shape 1"/>
          <p:cNvSpPr/>
          <p:nvPr/>
        </p:nvSpPr>
        <p:spPr>
          <a:xfrm>
            <a:off x="-2286000" y="4572000"/>
            <a:ext cx="4572000" cy="4572000"/>
          </a:xfrm>
          <a:prstGeom prst="ellipse">
            <a:avLst/>
          </a:prstGeom>
          <a:solidFill>
            <a:srgbClr val="13284D"/>
          </a:solidFill>
          <a:ln/>
        </p:spPr>
      </p:sp>
      <p:sp>
        <p:nvSpPr>
          <p:cNvPr id="4" name="Text 2"/>
          <p:cNvSpPr txBox="1"/>
          <p:nvPr/>
        </p:nvSpPr>
        <p:spPr>
          <a:xfrm>
            <a:off x="731520" y="1965960"/>
            <a:ext cx="10698480" cy="365760"/>
          </a:xfrm>
          <a:prstGeom prst="rect">
            <a:avLst/>
          </a:prstGeom>
          <a:noFill/>
          <a:ln/>
        </p:spPr>
        <p:txBody>
          <a:bodyPr wrap="square" lIns="0" tIns="0" rIns="0" bIns="0" rtlCol="0" anchor="ctr"/>
          <a:lstStyle/>
          <a:p>
            <a:pPr indent="0" marL="0">
              <a:buNone/>
            </a:pPr>
            <a:r>
              <a:rPr lang="en-US" sz="1400" b="1" spc="300" kern="0" dirty="0">
                <a:solidFill>
                  <a:srgbClr val="F2994A"/>
                </a:solidFill>
                <a:latin typeface="Calibri" pitchFamily="34" charset="0"/>
                <a:ea typeface="Calibri" pitchFamily="34" charset="-122"/>
                <a:cs typeface="Calibri" pitchFamily="34" charset="-120"/>
              </a:rPr>
              <a:t>ADVENTUREWORKS CYCLES</a:t>
            </a:r>
            <a:endParaRPr lang="en-US" sz="1400" dirty="0"/>
          </a:p>
        </p:txBody>
      </p:sp>
      <p:sp>
        <p:nvSpPr>
          <p:cNvPr id="5" name="Text 3"/>
          <p:cNvSpPr txBox="1"/>
          <p:nvPr/>
        </p:nvSpPr>
        <p:spPr>
          <a:xfrm>
            <a:off x="731520" y="2377440"/>
            <a:ext cx="1069848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Sales Performance Analysis</a:t>
            </a:r>
            <a:endParaRPr lang="en-US" sz="4400" dirty="0"/>
          </a:p>
        </p:txBody>
      </p:sp>
      <p:sp>
        <p:nvSpPr>
          <p:cNvPr id="6" name="Text 4"/>
          <p:cNvSpPr txBox="1"/>
          <p:nvPr/>
        </p:nvSpPr>
        <p:spPr>
          <a:xfrm>
            <a:off x="731520" y="3337560"/>
            <a:ext cx="960120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 Power BI &amp; Tableau Dashboard Project — Data Modeling, Analysis &amp; Visualization</a:t>
            </a:r>
            <a:endParaRPr lang="en-US" sz="1800" dirty="0"/>
          </a:p>
        </p:txBody>
      </p:sp>
      <p:sp>
        <p:nvSpPr>
          <p:cNvPr id="7" name="Shape 5"/>
          <p:cNvSpPr/>
          <p:nvPr/>
        </p:nvSpPr>
        <p:spPr>
          <a:xfrm>
            <a:off x="731520" y="3977640"/>
            <a:ext cx="2011680" cy="0"/>
          </a:xfrm>
          <a:prstGeom prst="line">
            <a:avLst/>
          </a:prstGeom>
          <a:noFill/>
          <a:ln w="31750">
            <a:solidFill>
              <a:srgbClr val="F2994A"/>
            </a:solidFill>
            <a:prstDash val="solid"/>
          </a:ln>
        </p:spPr>
      </p:sp>
      <p:sp>
        <p:nvSpPr>
          <p:cNvPr id="8" name="Text 6"/>
          <p:cNvSpPr txBox="1"/>
          <p:nvPr/>
        </p:nvSpPr>
        <p:spPr>
          <a:xfrm>
            <a:off x="731520" y="5989320"/>
            <a:ext cx="5486400" cy="365760"/>
          </a:xfrm>
          <a:prstGeom prst="rect">
            <a:avLst/>
          </a:prstGeom>
          <a:noFill/>
          <a:ln/>
        </p:spPr>
        <p:txBody>
          <a:bodyPr wrap="square" lIns="0" tIns="0" rIns="0" bIns="0" rtlCol="0" anchor="ctr"/>
          <a:lstStyle/>
          <a:p>
            <a:pPr indent="0" marL="0">
              <a:buNone/>
            </a:pPr>
            <a:r>
              <a:rPr lang="en-US" sz="1300" dirty="0">
                <a:solidFill>
                  <a:srgbClr val="9FB0CC"/>
                </a:solidFill>
                <a:latin typeface="Calibri" pitchFamily="34" charset="0"/>
                <a:ea typeface="Calibri" pitchFamily="34" charset="-122"/>
                <a:cs typeface="Calibri" pitchFamily="34" charset="-120"/>
              </a:rPr>
              <a:t>Shankarananda G T</a:t>
            </a:r>
            <a:endParaRPr lang="en-US" sz="1300" dirty="0"/>
          </a:p>
        </p:txBody>
      </p:sp>
      <p:sp>
        <p:nvSpPr>
          <p:cNvPr id="9" name="Text 7"/>
          <p:cNvSpPr txBox="1"/>
          <p:nvPr/>
        </p:nvSpPr>
        <p:spPr>
          <a:xfrm>
            <a:off x="731520" y="6263640"/>
            <a:ext cx="5486400" cy="320040"/>
          </a:xfrm>
          <a:prstGeom prst="rect">
            <a:avLst/>
          </a:prstGeom>
          <a:noFill/>
          <a:ln/>
        </p:spPr>
        <p:txBody>
          <a:bodyPr wrap="square" lIns="0" tIns="0" rIns="0" bIns="0" rtlCol="0" anchor="ctr"/>
          <a:lstStyle/>
          <a:p>
            <a:pPr indent="0" marL="0">
              <a:buNone/>
            </a:pPr>
            <a:r>
              <a:rPr lang="en-US" sz="1100" dirty="0">
                <a:solidFill>
                  <a:srgbClr val="9FB0CC"/>
                </a:solidFill>
                <a:latin typeface="Calibri" pitchFamily="34" charset="0"/>
                <a:ea typeface="Calibri" pitchFamily="34" charset="-122"/>
                <a:cs typeface="Calibri" pitchFamily="34" charset="-120"/>
              </a:rPr>
              <a:t>Data Analyst | Power BI &amp; Tableau</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F"/>
          </a:solidFill>
          <a:ln/>
        </p:spPr>
      </p:sp>
      <p:sp>
        <p:nvSpPr>
          <p:cNvPr id="3" name="Text 1"/>
          <p:cNvSpPr txBox="1"/>
          <p:nvPr/>
        </p:nvSpPr>
        <p:spPr>
          <a:xfrm>
            <a:off x="731520" y="201168"/>
            <a:ext cx="1069848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About AdventureWorks Cycles</a:t>
            </a:r>
            <a:endParaRPr lang="en-US" sz="2800" dirty="0"/>
          </a:p>
        </p:txBody>
      </p:sp>
      <p:sp>
        <p:nvSpPr>
          <p:cNvPr id="4" name="Text 2"/>
          <p:cNvSpPr txBox="1"/>
          <p:nvPr/>
        </p:nvSpPr>
        <p:spPr>
          <a:xfrm>
            <a:off x="731520" y="1417320"/>
            <a:ext cx="6309360" cy="4937760"/>
          </a:xfrm>
          <a:prstGeom prst="rect">
            <a:avLst/>
          </a:prstGeom>
          <a:noFill/>
          <a:ln/>
        </p:spPr>
        <p:txBody>
          <a:bodyPr wrap="square" lIns="0" tIns="0" rIns="0" bIns="0" rtlCol="0" anchor="t"/>
          <a:lstStyle/>
          <a:p>
            <a:pPr indent="0" marL="0">
              <a:lnSpc>
                <a:spcPct val="125000"/>
              </a:lnSpc>
              <a:buNone/>
            </a:pPr>
            <a:r>
              <a:rPr lang="en-US" sz="1400" dirty="0">
                <a:solidFill>
                  <a:srgbClr val="333333"/>
                </a:solidFill>
                <a:latin typeface="Calibri" pitchFamily="34" charset="0"/>
                <a:ea typeface="Calibri" pitchFamily="34" charset="-122"/>
                <a:cs typeface="Calibri" pitchFamily="34" charset="-120"/>
              </a:rPr>
              <a:t>AdventureWorks Cycles is a large, multinational manufacturing company that makes and sells metal and composite bicycles across North American, European, and Asian markets. Its base operation is in Bothell, Washington, with several regional sales teams located throughout its market base.</a:t>
            </a:r>
            <a:endParaRPr lang="en-US" sz="1400" dirty="0"/>
          </a:p>
          <a:p>
            <a:pPr indent="0" marL="0">
              <a:lnSpc>
                <a:spcPct val="125000"/>
              </a:lnSpc>
              <a:buNone/>
            </a:pPr>
            <a:endParaRPr lang="en-US" sz="1400" dirty="0"/>
          </a:p>
          <a:p>
            <a:pPr indent="0" marL="0">
              <a:lnSpc>
                <a:spcPct val="125000"/>
              </a:lnSpc>
              <a:buNone/>
            </a:pPr>
            <a:r>
              <a:rPr lang="en-US" sz="1400" dirty="0">
                <a:solidFill>
                  <a:srgbClr val="333333"/>
                </a:solidFill>
                <a:latin typeface="Calibri" pitchFamily="34" charset="0"/>
                <a:ea typeface="Calibri" pitchFamily="34" charset="-122"/>
                <a:cs typeface="Calibri" pitchFamily="34" charset="-120"/>
              </a:rPr>
              <a:t>In the 2000s, the company acquired a manufacturing plant in Mexico that produces critical subcomponents shipped to Bothell for final assembly. In 2001, this plant became the sole manufacturer and distributor of AdventureWorks' touring bike product group.</a:t>
            </a:r>
            <a:endParaRPr lang="en-US" sz="1400" dirty="0"/>
          </a:p>
          <a:p>
            <a:pPr indent="0" marL="0">
              <a:lnSpc>
                <a:spcPct val="125000"/>
              </a:lnSpc>
              <a:buNone/>
            </a:pPr>
            <a:endParaRPr lang="en-US" sz="1400" dirty="0"/>
          </a:p>
          <a:p>
            <a:pPr indent="0" marL="0">
              <a:lnSpc>
                <a:spcPct val="125000"/>
              </a:lnSpc>
              <a:buNone/>
            </a:pPr>
            <a:r>
              <a:rPr lang="en-US" sz="1400" dirty="0">
                <a:solidFill>
                  <a:srgbClr val="333333"/>
                </a:solidFill>
                <a:latin typeface="Calibri" pitchFamily="34" charset="0"/>
                <a:ea typeface="Calibri" pitchFamily="34" charset="-122"/>
                <a:cs typeface="Calibri" pitchFamily="34" charset="-120"/>
              </a:rPr>
              <a:t>Coming off a successful fiscal year, the company is looking to broaden its market share by targeting its best customers, extending product availability through an external website, and reducing its cost of sales through lower production costs.</a:t>
            </a:r>
            <a:endParaRPr lang="en-US" sz="1400" dirty="0"/>
          </a:p>
        </p:txBody>
      </p:sp>
      <p:sp>
        <p:nvSpPr>
          <p:cNvPr id="5" name="Shape 3"/>
          <p:cNvSpPr/>
          <p:nvPr/>
        </p:nvSpPr>
        <p:spPr>
          <a:xfrm>
            <a:off x="7406640" y="1554480"/>
            <a:ext cx="4023360" cy="1051560"/>
          </a:xfrm>
          <a:prstGeom prst="roundRect">
            <a:avLst>
              <a:gd name="adj" fmla="val 6957"/>
            </a:avLst>
          </a:prstGeom>
          <a:solidFill>
            <a:srgbClr val="13284D"/>
          </a:solidFill>
          <a:ln/>
          <a:effectLst>
            <a:outerShdw sx="100000" sy="100000" kx="0" ky="0" algn="bl" rotWithShape="0" blurRad="76200" dist="38100" dir="5400000">
              <a:srgbClr val="000000">
                <a:alpha val="35000"/>
              </a:srgbClr>
            </a:outerShdw>
          </a:effectLst>
        </p:spPr>
      </p:sp>
      <p:sp>
        <p:nvSpPr>
          <p:cNvPr id="6" name="Shape 4"/>
          <p:cNvSpPr/>
          <p:nvPr/>
        </p:nvSpPr>
        <p:spPr>
          <a:xfrm>
            <a:off x="7635240" y="1737360"/>
            <a:ext cx="685800" cy="685800"/>
          </a:xfrm>
          <a:prstGeom prst="ellipse">
            <a:avLst/>
          </a:prstGeom>
          <a:solidFill>
            <a:srgbClr val="F2994A"/>
          </a:solidFill>
          <a:ln/>
          <a:effectLst>
            <a:outerShdw sx="100000" sy="100000" kx="0" ky="0" algn="bl" rotWithShape="0" blurRad="76200" dist="38100" dir="5400000">
              <a:srgbClr val="000000">
                <a:alpha val="35000"/>
              </a:srgbClr>
            </a:outerShdw>
          </a:effectLst>
        </p:spPr>
      </p:sp>
      <p:sp>
        <p:nvSpPr>
          <p:cNvPr id="7" name="Text 5"/>
          <p:cNvSpPr txBox="1"/>
          <p:nvPr/>
        </p:nvSpPr>
        <p:spPr>
          <a:xfrm>
            <a:off x="7635240" y="1737360"/>
            <a:ext cx="68580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H</a:t>
            </a:r>
            <a:endParaRPr lang="en-US" sz="1950" dirty="0"/>
          </a:p>
        </p:txBody>
      </p:sp>
      <p:sp>
        <p:nvSpPr>
          <p:cNvPr id="8" name="Text 6"/>
          <p:cNvSpPr txBox="1"/>
          <p:nvPr/>
        </p:nvSpPr>
        <p:spPr>
          <a:xfrm>
            <a:off x="8503920" y="1719072"/>
            <a:ext cx="2743200" cy="320040"/>
          </a:xfrm>
          <a:prstGeom prst="rect">
            <a:avLst/>
          </a:prstGeom>
          <a:noFill/>
          <a:ln/>
        </p:spPr>
        <p:txBody>
          <a:bodyPr wrap="square" lIns="0" tIns="0" rIns="0" bIns="0"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Headquarters</a:t>
            </a:r>
            <a:endParaRPr lang="en-US" sz="1200" dirty="0"/>
          </a:p>
        </p:txBody>
      </p:sp>
      <p:sp>
        <p:nvSpPr>
          <p:cNvPr id="9" name="Text 7"/>
          <p:cNvSpPr txBox="1"/>
          <p:nvPr/>
        </p:nvSpPr>
        <p:spPr>
          <a:xfrm>
            <a:off x="8503920" y="2029968"/>
            <a:ext cx="27432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Bothell, Washington</a:t>
            </a:r>
            <a:endParaRPr lang="en-US" sz="1300" dirty="0"/>
          </a:p>
        </p:txBody>
      </p:sp>
      <p:sp>
        <p:nvSpPr>
          <p:cNvPr id="10" name="Shape 8"/>
          <p:cNvSpPr/>
          <p:nvPr/>
        </p:nvSpPr>
        <p:spPr>
          <a:xfrm>
            <a:off x="7406640" y="2788920"/>
            <a:ext cx="4023360" cy="1051560"/>
          </a:xfrm>
          <a:prstGeom prst="roundRect">
            <a:avLst>
              <a:gd name="adj" fmla="val 6957"/>
            </a:avLst>
          </a:prstGeom>
          <a:solidFill>
            <a:srgbClr val="13284D"/>
          </a:solidFill>
          <a:ln/>
          <a:effectLst>
            <a:outerShdw sx="100000" sy="100000" kx="0" ky="0" algn="bl" rotWithShape="0" blurRad="76200" dist="38100" dir="5400000">
              <a:srgbClr val="000000">
                <a:alpha val="35000"/>
              </a:srgbClr>
            </a:outerShdw>
          </a:effectLst>
        </p:spPr>
      </p:sp>
      <p:sp>
        <p:nvSpPr>
          <p:cNvPr id="11" name="Shape 9"/>
          <p:cNvSpPr/>
          <p:nvPr/>
        </p:nvSpPr>
        <p:spPr>
          <a:xfrm>
            <a:off x="7635240" y="2971800"/>
            <a:ext cx="685800" cy="685800"/>
          </a:xfrm>
          <a:prstGeom prst="ellipse">
            <a:avLst/>
          </a:prstGeom>
          <a:solidFill>
            <a:srgbClr val="F2994A"/>
          </a:solidFill>
          <a:ln/>
          <a:effectLst>
            <a:outerShdw sx="100000" sy="100000" kx="0" ky="0" algn="bl" rotWithShape="0" blurRad="76200" dist="38100" dir="5400000">
              <a:srgbClr val="000000">
                <a:alpha val="35000"/>
              </a:srgbClr>
            </a:outerShdw>
          </a:effectLst>
        </p:spPr>
      </p:sp>
      <p:sp>
        <p:nvSpPr>
          <p:cNvPr id="12" name="Text 10"/>
          <p:cNvSpPr txBox="1"/>
          <p:nvPr/>
        </p:nvSpPr>
        <p:spPr>
          <a:xfrm>
            <a:off x="7635240" y="2971800"/>
            <a:ext cx="68580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E</a:t>
            </a:r>
            <a:endParaRPr lang="en-US" sz="1950" dirty="0"/>
          </a:p>
        </p:txBody>
      </p:sp>
      <p:sp>
        <p:nvSpPr>
          <p:cNvPr id="13" name="Text 11"/>
          <p:cNvSpPr txBox="1"/>
          <p:nvPr/>
        </p:nvSpPr>
        <p:spPr>
          <a:xfrm>
            <a:off x="8503920" y="2953512"/>
            <a:ext cx="2743200" cy="320040"/>
          </a:xfrm>
          <a:prstGeom prst="rect">
            <a:avLst/>
          </a:prstGeom>
          <a:noFill/>
          <a:ln/>
        </p:spPr>
        <p:txBody>
          <a:bodyPr wrap="square" lIns="0" tIns="0" rIns="0" bIns="0"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Employees</a:t>
            </a:r>
            <a:endParaRPr lang="en-US" sz="1200" dirty="0"/>
          </a:p>
        </p:txBody>
      </p:sp>
      <p:sp>
        <p:nvSpPr>
          <p:cNvPr id="14" name="Text 12"/>
          <p:cNvSpPr txBox="1"/>
          <p:nvPr/>
        </p:nvSpPr>
        <p:spPr>
          <a:xfrm>
            <a:off x="8503920" y="3264408"/>
            <a:ext cx="27432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290</a:t>
            </a:r>
            <a:endParaRPr lang="en-US" sz="1300" dirty="0"/>
          </a:p>
        </p:txBody>
      </p:sp>
      <p:sp>
        <p:nvSpPr>
          <p:cNvPr id="15" name="Shape 13"/>
          <p:cNvSpPr/>
          <p:nvPr/>
        </p:nvSpPr>
        <p:spPr>
          <a:xfrm>
            <a:off x="7406640" y="4023360"/>
            <a:ext cx="4023360" cy="1051560"/>
          </a:xfrm>
          <a:prstGeom prst="roundRect">
            <a:avLst>
              <a:gd name="adj" fmla="val 6957"/>
            </a:avLst>
          </a:prstGeom>
          <a:solidFill>
            <a:srgbClr val="13284D"/>
          </a:solidFill>
          <a:ln/>
          <a:effectLst>
            <a:outerShdw sx="100000" sy="100000" kx="0" ky="0" algn="bl" rotWithShape="0" blurRad="76200" dist="38100" dir="5400000">
              <a:srgbClr val="000000">
                <a:alpha val="35000"/>
              </a:srgbClr>
            </a:outerShdw>
          </a:effectLst>
        </p:spPr>
      </p:sp>
      <p:sp>
        <p:nvSpPr>
          <p:cNvPr id="16" name="Shape 14"/>
          <p:cNvSpPr/>
          <p:nvPr/>
        </p:nvSpPr>
        <p:spPr>
          <a:xfrm>
            <a:off x="7635240" y="4206240"/>
            <a:ext cx="685800" cy="685800"/>
          </a:xfrm>
          <a:prstGeom prst="ellipse">
            <a:avLst/>
          </a:prstGeom>
          <a:solidFill>
            <a:srgbClr val="F2994A"/>
          </a:solidFill>
          <a:ln/>
          <a:effectLst>
            <a:outerShdw sx="100000" sy="100000" kx="0" ky="0" algn="bl" rotWithShape="0" blurRad="76200" dist="38100" dir="5400000">
              <a:srgbClr val="000000">
                <a:alpha val="35000"/>
              </a:srgbClr>
            </a:outerShdw>
          </a:effectLst>
        </p:spPr>
      </p:sp>
      <p:sp>
        <p:nvSpPr>
          <p:cNvPr id="17" name="Text 15"/>
          <p:cNvSpPr txBox="1"/>
          <p:nvPr/>
        </p:nvSpPr>
        <p:spPr>
          <a:xfrm>
            <a:off x="7635240" y="4206240"/>
            <a:ext cx="68580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M</a:t>
            </a:r>
            <a:endParaRPr lang="en-US" sz="1950" dirty="0"/>
          </a:p>
        </p:txBody>
      </p:sp>
      <p:sp>
        <p:nvSpPr>
          <p:cNvPr id="18" name="Text 16"/>
          <p:cNvSpPr txBox="1"/>
          <p:nvPr/>
        </p:nvSpPr>
        <p:spPr>
          <a:xfrm>
            <a:off x="8503920" y="4187952"/>
            <a:ext cx="2743200" cy="320040"/>
          </a:xfrm>
          <a:prstGeom prst="rect">
            <a:avLst/>
          </a:prstGeom>
          <a:noFill/>
          <a:ln/>
        </p:spPr>
        <p:txBody>
          <a:bodyPr wrap="square" lIns="0" tIns="0" rIns="0" bIns="0"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Markets</a:t>
            </a:r>
            <a:endParaRPr lang="en-US" sz="1200" dirty="0"/>
          </a:p>
        </p:txBody>
      </p:sp>
      <p:sp>
        <p:nvSpPr>
          <p:cNvPr id="19" name="Text 17"/>
          <p:cNvSpPr txBox="1"/>
          <p:nvPr/>
        </p:nvSpPr>
        <p:spPr>
          <a:xfrm>
            <a:off x="8503920" y="4498848"/>
            <a:ext cx="27432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North America, Europe, Asia</a:t>
            </a:r>
            <a:endParaRPr lang="en-US" sz="1300" dirty="0"/>
          </a:p>
        </p:txBody>
      </p:sp>
      <p:sp>
        <p:nvSpPr>
          <p:cNvPr id="20" name="Shape 18"/>
          <p:cNvSpPr/>
          <p:nvPr/>
        </p:nvSpPr>
        <p:spPr>
          <a:xfrm>
            <a:off x="7406640" y="5257800"/>
            <a:ext cx="4023360" cy="1051560"/>
          </a:xfrm>
          <a:prstGeom prst="roundRect">
            <a:avLst>
              <a:gd name="adj" fmla="val 6957"/>
            </a:avLst>
          </a:prstGeom>
          <a:solidFill>
            <a:srgbClr val="13284D"/>
          </a:solidFill>
          <a:ln/>
          <a:effectLst>
            <a:outerShdw sx="100000" sy="100000" kx="0" ky="0" algn="bl" rotWithShape="0" blurRad="76200" dist="38100" dir="5400000">
              <a:srgbClr val="000000">
                <a:alpha val="35000"/>
              </a:srgbClr>
            </a:outerShdw>
          </a:effectLst>
        </p:spPr>
      </p:sp>
      <p:sp>
        <p:nvSpPr>
          <p:cNvPr id="21" name="Shape 19"/>
          <p:cNvSpPr/>
          <p:nvPr/>
        </p:nvSpPr>
        <p:spPr>
          <a:xfrm>
            <a:off x="7635240" y="5440680"/>
            <a:ext cx="685800" cy="685800"/>
          </a:xfrm>
          <a:prstGeom prst="ellipse">
            <a:avLst/>
          </a:prstGeom>
          <a:solidFill>
            <a:srgbClr val="F2994A"/>
          </a:solidFill>
          <a:ln/>
          <a:effectLst>
            <a:outerShdw sx="100000" sy="100000" kx="0" ky="0" algn="bl" rotWithShape="0" blurRad="76200" dist="38100" dir="5400000">
              <a:srgbClr val="000000">
                <a:alpha val="35000"/>
              </a:srgbClr>
            </a:outerShdw>
          </a:effectLst>
        </p:spPr>
      </p:sp>
      <p:sp>
        <p:nvSpPr>
          <p:cNvPr id="22" name="Text 20"/>
          <p:cNvSpPr txBox="1"/>
          <p:nvPr/>
        </p:nvSpPr>
        <p:spPr>
          <a:xfrm>
            <a:off x="7635240" y="5440680"/>
            <a:ext cx="685800" cy="68580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F</a:t>
            </a:r>
            <a:endParaRPr lang="en-US" sz="1950" dirty="0"/>
          </a:p>
        </p:txBody>
      </p:sp>
      <p:sp>
        <p:nvSpPr>
          <p:cNvPr id="23" name="Text 21"/>
          <p:cNvSpPr txBox="1"/>
          <p:nvPr/>
        </p:nvSpPr>
        <p:spPr>
          <a:xfrm>
            <a:off x="8503920" y="5422392"/>
            <a:ext cx="2743200" cy="320040"/>
          </a:xfrm>
          <a:prstGeom prst="rect">
            <a:avLst/>
          </a:prstGeom>
          <a:noFill/>
          <a:ln/>
        </p:spPr>
        <p:txBody>
          <a:bodyPr wrap="square" lIns="0" tIns="0" rIns="0" bIns="0"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Manufacturing</a:t>
            </a:r>
            <a:endParaRPr lang="en-US" sz="1200" dirty="0"/>
          </a:p>
        </p:txBody>
      </p:sp>
      <p:sp>
        <p:nvSpPr>
          <p:cNvPr id="24" name="Text 22"/>
          <p:cNvSpPr txBox="1"/>
          <p:nvPr/>
        </p:nvSpPr>
        <p:spPr>
          <a:xfrm>
            <a:off x="8503920" y="5733288"/>
            <a:ext cx="27432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Bothell, WA + Mexico plant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F"/>
        </a:solidFill>
      </p:bgPr>
    </p:bg>
    <p:spTree>
      <p:nvGrpSpPr>
        <p:cNvPr id="1" name=""/>
        <p:cNvGrpSpPr/>
        <p:nvPr/>
      </p:nvGrpSpPr>
      <p:grpSpPr>
        <a:xfrm>
          <a:off x="0" y="0"/>
          <a:ext cx="0" cy="0"/>
          <a:chOff x="0" y="0"/>
          <a:chExt cx="0" cy="0"/>
        </a:xfrm>
      </p:grpSpPr>
      <p:sp>
        <p:nvSpPr>
          <p:cNvPr id="2" name="Text 0"/>
          <p:cNvSpPr txBox="1"/>
          <p:nvPr/>
        </p:nvSpPr>
        <p:spPr>
          <a:xfrm>
            <a:off x="731520" y="548640"/>
            <a:ext cx="1069848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Problem Statement</a:t>
            </a:r>
            <a:endParaRPr lang="en-US" sz="2800" dirty="0"/>
          </a:p>
        </p:txBody>
      </p:sp>
      <p:sp>
        <p:nvSpPr>
          <p:cNvPr id="3" name="Text 1"/>
          <p:cNvSpPr txBox="1"/>
          <p:nvPr/>
        </p:nvSpPr>
        <p:spPr>
          <a:xfrm>
            <a:off x="731520" y="1234440"/>
            <a:ext cx="10607040" cy="822960"/>
          </a:xfrm>
          <a:prstGeom prst="rect">
            <a:avLst/>
          </a:prstGeom>
          <a:noFill/>
          <a:ln/>
        </p:spPr>
        <p:txBody>
          <a:bodyPr wrap="square" lIns="0" tIns="0" rIns="0" bIns="0" rtlCol="0" anchor="ctr"/>
          <a:lstStyle/>
          <a:p>
            <a:pPr indent="0" marL="0">
              <a:lnSpc>
                <a:spcPct val="120000"/>
              </a:lnSpc>
              <a:buNone/>
            </a:pPr>
            <a:r>
              <a:rPr lang="en-US" sz="1500" dirty="0">
                <a:solidFill>
                  <a:srgbClr val="CADCFC"/>
                </a:solidFill>
                <a:latin typeface="Calibri" pitchFamily="34" charset="0"/>
                <a:ea typeface="Calibri" pitchFamily="34" charset="-122"/>
                <a:cs typeface="Calibri" pitchFamily="34" charset="-120"/>
              </a:rPr>
              <a:t>AdventureWorks wants to grow market share by focusing on its best customers, expanding online sales, and lowering production costs. This project analyzes 60K+ internet sales orders (2010–2014) to turn that goal into a data-backed dashboard.</a:t>
            </a:r>
            <a:endParaRPr lang="en-US" sz="1500" dirty="0"/>
          </a:p>
        </p:txBody>
      </p:sp>
      <p:sp>
        <p:nvSpPr>
          <p:cNvPr id="4" name="Shape 2"/>
          <p:cNvSpPr/>
          <p:nvPr/>
        </p:nvSpPr>
        <p:spPr>
          <a:xfrm>
            <a:off x="731520" y="2331720"/>
            <a:ext cx="10698480" cy="868680"/>
          </a:xfrm>
          <a:prstGeom prst="roundRect">
            <a:avLst>
              <a:gd name="adj" fmla="val 8421"/>
            </a:avLst>
          </a:prstGeom>
          <a:solidFill>
            <a:srgbClr val="13284D"/>
          </a:solidFill>
          <a:ln/>
          <a:effectLst>
            <a:outerShdw sx="100000" sy="100000" kx="0" ky="0" algn="bl" rotWithShape="0" blurRad="76200" dist="38100" dir="5400000">
              <a:srgbClr val="000000">
                <a:alpha val="35000"/>
              </a:srgbClr>
            </a:outerShdw>
          </a:effectLst>
        </p:spPr>
      </p:sp>
      <p:sp>
        <p:nvSpPr>
          <p:cNvPr id="5" name="Shape 3"/>
          <p:cNvSpPr/>
          <p:nvPr/>
        </p:nvSpPr>
        <p:spPr>
          <a:xfrm>
            <a:off x="960120" y="2487168"/>
            <a:ext cx="548640" cy="548640"/>
          </a:xfrm>
          <a:prstGeom prst="ellipse">
            <a:avLst/>
          </a:prstGeom>
          <a:solidFill>
            <a:srgbClr val="F2994A"/>
          </a:solidFill>
          <a:ln/>
          <a:effectLst>
            <a:outerShdw sx="100000" sy="100000" kx="0" ky="0" algn="bl" rotWithShape="0" blurRad="76200" dist="38100" dir="5400000">
              <a:srgbClr val="000000">
                <a:alpha val="35000"/>
              </a:srgbClr>
            </a:outerShdw>
          </a:effectLst>
        </p:spPr>
      </p:sp>
      <p:sp>
        <p:nvSpPr>
          <p:cNvPr id="6" name="Text 4"/>
          <p:cNvSpPr txBox="1"/>
          <p:nvPr/>
        </p:nvSpPr>
        <p:spPr>
          <a:xfrm>
            <a:off x="960120" y="2487168"/>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Arial" pitchFamily="34" charset="0"/>
                <a:ea typeface="Arial" pitchFamily="34" charset="-122"/>
                <a:cs typeface="Arial" pitchFamily="34" charset="-120"/>
              </a:rPr>
              <a:t>1</a:t>
            </a:r>
            <a:endParaRPr lang="en-US" sz="1560" dirty="0"/>
          </a:p>
        </p:txBody>
      </p:sp>
      <p:sp>
        <p:nvSpPr>
          <p:cNvPr id="7" name="Text 5"/>
          <p:cNvSpPr txBox="1"/>
          <p:nvPr/>
        </p:nvSpPr>
        <p:spPr>
          <a:xfrm>
            <a:off x="1783080" y="2468880"/>
            <a:ext cx="9326880" cy="5943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Which years, products, and customers drive the most revenue?</a:t>
            </a:r>
            <a:endParaRPr lang="en-US" sz="1500" dirty="0"/>
          </a:p>
        </p:txBody>
      </p:sp>
      <p:sp>
        <p:nvSpPr>
          <p:cNvPr id="8" name="Shape 6"/>
          <p:cNvSpPr/>
          <p:nvPr/>
        </p:nvSpPr>
        <p:spPr>
          <a:xfrm>
            <a:off x="731520" y="3355848"/>
            <a:ext cx="10698480" cy="868680"/>
          </a:xfrm>
          <a:prstGeom prst="roundRect">
            <a:avLst>
              <a:gd name="adj" fmla="val 8421"/>
            </a:avLst>
          </a:prstGeom>
          <a:solidFill>
            <a:srgbClr val="13284D"/>
          </a:solidFill>
          <a:ln/>
          <a:effectLst>
            <a:outerShdw sx="100000" sy="100000" kx="0" ky="0" algn="bl" rotWithShape="0" blurRad="76200" dist="38100" dir="5400000">
              <a:srgbClr val="000000">
                <a:alpha val="35000"/>
              </a:srgbClr>
            </a:outerShdw>
          </a:effectLst>
        </p:spPr>
      </p:sp>
      <p:sp>
        <p:nvSpPr>
          <p:cNvPr id="9" name="Shape 7"/>
          <p:cNvSpPr/>
          <p:nvPr/>
        </p:nvSpPr>
        <p:spPr>
          <a:xfrm>
            <a:off x="960120" y="3511296"/>
            <a:ext cx="548640" cy="548640"/>
          </a:xfrm>
          <a:prstGeom prst="ellipse">
            <a:avLst/>
          </a:prstGeom>
          <a:solidFill>
            <a:srgbClr val="F2994A"/>
          </a:solidFill>
          <a:ln/>
          <a:effectLst>
            <a:outerShdw sx="100000" sy="100000" kx="0" ky="0" algn="bl" rotWithShape="0" blurRad="76200" dist="38100" dir="5400000">
              <a:srgbClr val="000000">
                <a:alpha val="35000"/>
              </a:srgbClr>
            </a:outerShdw>
          </a:effectLst>
        </p:spPr>
      </p:sp>
      <p:sp>
        <p:nvSpPr>
          <p:cNvPr id="10" name="Text 8"/>
          <p:cNvSpPr txBox="1"/>
          <p:nvPr/>
        </p:nvSpPr>
        <p:spPr>
          <a:xfrm>
            <a:off x="960120" y="3511296"/>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Arial" pitchFamily="34" charset="0"/>
                <a:ea typeface="Arial" pitchFamily="34" charset="-122"/>
                <a:cs typeface="Arial" pitchFamily="34" charset="-120"/>
              </a:rPr>
              <a:t>2</a:t>
            </a:r>
            <a:endParaRPr lang="en-US" sz="1560" dirty="0"/>
          </a:p>
        </p:txBody>
      </p:sp>
      <p:sp>
        <p:nvSpPr>
          <p:cNvPr id="11" name="Text 9"/>
          <p:cNvSpPr txBox="1"/>
          <p:nvPr/>
        </p:nvSpPr>
        <p:spPr>
          <a:xfrm>
            <a:off x="1783080" y="3493008"/>
            <a:ext cx="9326880" cy="5943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How does sales performance vary across regions and product categories?</a:t>
            </a:r>
            <a:endParaRPr lang="en-US" sz="1500" dirty="0"/>
          </a:p>
        </p:txBody>
      </p:sp>
      <p:sp>
        <p:nvSpPr>
          <p:cNvPr id="12" name="Shape 10"/>
          <p:cNvSpPr/>
          <p:nvPr/>
        </p:nvSpPr>
        <p:spPr>
          <a:xfrm>
            <a:off x="731520" y="4379976"/>
            <a:ext cx="10698480" cy="868680"/>
          </a:xfrm>
          <a:prstGeom prst="roundRect">
            <a:avLst>
              <a:gd name="adj" fmla="val 8421"/>
            </a:avLst>
          </a:prstGeom>
          <a:solidFill>
            <a:srgbClr val="13284D"/>
          </a:solidFill>
          <a:ln/>
          <a:effectLst>
            <a:outerShdw sx="100000" sy="100000" kx="0" ky="0" algn="bl" rotWithShape="0" blurRad="76200" dist="38100" dir="5400000">
              <a:srgbClr val="000000">
                <a:alpha val="35000"/>
              </a:srgbClr>
            </a:outerShdw>
          </a:effectLst>
        </p:spPr>
      </p:sp>
      <p:sp>
        <p:nvSpPr>
          <p:cNvPr id="13" name="Shape 11"/>
          <p:cNvSpPr/>
          <p:nvPr/>
        </p:nvSpPr>
        <p:spPr>
          <a:xfrm>
            <a:off x="960120" y="4535424"/>
            <a:ext cx="548640" cy="548640"/>
          </a:xfrm>
          <a:prstGeom prst="ellipse">
            <a:avLst/>
          </a:prstGeom>
          <a:solidFill>
            <a:srgbClr val="F2994A"/>
          </a:solidFill>
          <a:ln/>
          <a:effectLst>
            <a:outerShdw sx="100000" sy="100000" kx="0" ky="0" algn="bl" rotWithShape="0" blurRad="76200" dist="38100" dir="5400000">
              <a:srgbClr val="000000">
                <a:alpha val="35000"/>
              </a:srgbClr>
            </a:outerShdw>
          </a:effectLst>
        </p:spPr>
      </p:sp>
      <p:sp>
        <p:nvSpPr>
          <p:cNvPr id="14" name="Text 12"/>
          <p:cNvSpPr txBox="1"/>
          <p:nvPr/>
        </p:nvSpPr>
        <p:spPr>
          <a:xfrm>
            <a:off x="960120" y="4535424"/>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Arial" pitchFamily="34" charset="0"/>
                <a:ea typeface="Arial" pitchFamily="34" charset="-122"/>
                <a:cs typeface="Arial" pitchFamily="34" charset="-120"/>
              </a:rPr>
              <a:t>3</a:t>
            </a:r>
            <a:endParaRPr lang="en-US" sz="1560" dirty="0"/>
          </a:p>
        </p:txBody>
      </p:sp>
      <p:sp>
        <p:nvSpPr>
          <p:cNvPr id="15" name="Text 13"/>
          <p:cNvSpPr txBox="1"/>
          <p:nvPr/>
        </p:nvSpPr>
        <p:spPr>
          <a:xfrm>
            <a:off x="1783080" y="4517136"/>
            <a:ext cx="9326880" cy="5943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How does production cost compare to sales revenue over time?</a:t>
            </a:r>
            <a:endParaRPr lang="en-US" sz="1500" dirty="0"/>
          </a:p>
        </p:txBody>
      </p:sp>
      <p:sp>
        <p:nvSpPr>
          <p:cNvPr id="16" name="Shape 14"/>
          <p:cNvSpPr/>
          <p:nvPr/>
        </p:nvSpPr>
        <p:spPr>
          <a:xfrm>
            <a:off x="731520" y="5404104"/>
            <a:ext cx="10698480" cy="868680"/>
          </a:xfrm>
          <a:prstGeom prst="roundRect">
            <a:avLst>
              <a:gd name="adj" fmla="val 8421"/>
            </a:avLst>
          </a:prstGeom>
          <a:solidFill>
            <a:srgbClr val="13284D"/>
          </a:solidFill>
          <a:ln/>
          <a:effectLst>
            <a:outerShdw sx="100000" sy="100000" kx="0" ky="0" algn="bl" rotWithShape="0" blurRad="76200" dist="38100" dir="5400000">
              <a:srgbClr val="000000">
                <a:alpha val="35000"/>
              </a:srgbClr>
            </a:outerShdw>
          </a:effectLst>
        </p:spPr>
      </p:sp>
      <p:sp>
        <p:nvSpPr>
          <p:cNvPr id="17" name="Shape 15"/>
          <p:cNvSpPr/>
          <p:nvPr/>
        </p:nvSpPr>
        <p:spPr>
          <a:xfrm>
            <a:off x="960120" y="5559552"/>
            <a:ext cx="548640" cy="548640"/>
          </a:xfrm>
          <a:prstGeom prst="ellipse">
            <a:avLst/>
          </a:prstGeom>
          <a:solidFill>
            <a:srgbClr val="F2994A"/>
          </a:solidFill>
          <a:ln/>
          <a:effectLst>
            <a:outerShdw sx="100000" sy="100000" kx="0" ky="0" algn="bl" rotWithShape="0" blurRad="76200" dist="38100" dir="5400000">
              <a:srgbClr val="000000">
                <a:alpha val="35000"/>
              </a:srgbClr>
            </a:outerShdw>
          </a:effectLst>
        </p:spPr>
      </p:sp>
      <p:sp>
        <p:nvSpPr>
          <p:cNvPr id="18" name="Text 16"/>
          <p:cNvSpPr txBox="1"/>
          <p:nvPr/>
        </p:nvSpPr>
        <p:spPr>
          <a:xfrm>
            <a:off x="960120" y="5559552"/>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Arial" pitchFamily="34" charset="0"/>
                <a:ea typeface="Arial" pitchFamily="34" charset="-122"/>
                <a:cs typeface="Arial" pitchFamily="34" charset="-120"/>
              </a:rPr>
              <a:t>4</a:t>
            </a:r>
            <a:endParaRPr lang="en-US" sz="1560" dirty="0"/>
          </a:p>
        </p:txBody>
      </p:sp>
      <p:sp>
        <p:nvSpPr>
          <p:cNvPr id="19" name="Text 17"/>
          <p:cNvSpPr txBox="1"/>
          <p:nvPr/>
        </p:nvSpPr>
        <p:spPr>
          <a:xfrm>
            <a:off x="1783080" y="5541264"/>
            <a:ext cx="9326880" cy="5943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Which quarters and months show peak seasonal demand?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F"/>
          </a:solidFill>
          <a:ln/>
        </p:spPr>
      </p:sp>
      <p:sp>
        <p:nvSpPr>
          <p:cNvPr id="3" name="Text 1"/>
          <p:cNvSpPr txBox="1"/>
          <p:nvPr/>
        </p:nvSpPr>
        <p:spPr>
          <a:xfrm>
            <a:off x="731520" y="201168"/>
            <a:ext cx="1069848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Data Model — Star Schema</a:t>
            </a:r>
            <a:endParaRPr lang="en-US" sz="2800" dirty="0"/>
          </a:p>
        </p:txBody>
      </p:sp>
      <p:sp>
        <p:nvSpPr>
          <p:cNvPr id="4" name="Shape 2"/>
          <p:cNvSpPr/>
          <p:nvPr/>
        </p:nvSpPr>
        <p:spPr>
          <a:xfrm>
            <a:off x="731520" y="1463040"/>
            <a:ext cx="457200" cy="457200"/>
          </a:xfrm>
          <a:prstGeom prst="ellipse">
            <a:avLst/>
          </a:prstGeom>
          <a:solidFill>
            <a:srgbClr val="F2994A"/>
          </a:solidFill>
          <a:ln/>
          <a:effectLst>
            <a:outerShdw sx="100000" sy="100000" kx="0" ky="0" algn="bl" rotWithShape="0" blurRad="76200" dist="38100" dir="5400000">
              <a:srgbClr val="000000">
                <a:alpha val="35000"/>
              </a:srgbClr>
            </a:outerShdw>
          </a:effectLst>
        </p:spPr>
      </p:sp>
      <p:sp>
        <p:nvSpPr>
          <p:cNvPr id="5" name="Text 3"/>
          <p:cNvSpPr txBox="1"/>
          <p:nvPr/>
        </p:nvSpPr>
        <p:spPr>
          <a:xfrm>
            <a:off x="731520" y="1463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371600" y="1417320"/>
            <a:ext cx="4206240" cy="868680"/>
          </a:xfrm>
          <a:prstGeom prst="rect">
            <a:avLst/>
          </a:prstGeom>
          <a:noFill/>
          <a:ln/>
        </p:spPr>
        <p:txBody>
          <a:bodyPr wrap="square" lIns="0" tIns="0" rIns="0" bIns="0" rtlCol="0" anchor="ctr"/>
          <a:lstStyle/>
          <a:p>
            <a:pPr indent="0" marL="0">
              <a:lnSpc>
                <a:spcPct val="110000"/>
              </a:lnSpc>
              <a:buNone/>
            </a:pPr>
            <a:r>
              <a:rPr lang="en-US" sz="1250" dirty="0">
                <a:solidFill>
                  <a:srgbClr val="333333"/>
                </a:solidFill>
                <a:latin typeface="Calibri" pitchFamily="34" charset="0"/>
                <a:ea typeface="Calibri" pitchFamily="34" charset="-122"/>
                <a:cs typeface="Calibri" pitchFamily="34" charset="-120"/>
              </a:rPr>
              <a:t>Unioned FactInternetSales + Fact_Internet_Sales_New into a single Sales fact table (60,398 rows)</a:t>
            </a:r>
            <a:endParaRPr lang="en-US" sz="1250" dirty="0"/>
          </a:p>
        </p:txBody>
      </p:sp>
      <p:sp>
        <p:nvSpPr>
          <p:cNvPr id="7" name="Shape 5"/>
          <p:cNvSpPr/>
          <p:nvPr/>
        </p:nvSpPr>
        <p:spPr>
          <a:xfrm>
            <a:off x="731520" y="2633472"/>
            <a:ext cx="457200" cy="457200"/>
          </a:xfrm>
          <a:prstGeom prst="ellipse">
            <a:avLst/>
          </a:prstGeom>
          <a:solidFill>
            <a:srgbClr val="F2994A"/>
          </a:solidFill>
          <a:ln/>
          <a:effectLst>
            <a:outerShdw sx="100000" sy="100000" kx="0" ky="0" algn="bl" rotWithShape="0" blurRad="76200" dist="38100" dir="5400000">
              <a:srgbClr val="000000">
                <a:alpha val="35000"/>
              </a:srgbClr>
            </a:outerShdw>
          </a:effectLst>
        </p:spPr>
      </p:sp>
      <p:sp>
        <p:nvSpPr>
          <p:cNvPr id="8" name="Text 6"/>
          <p:cNvSpPr txBox="1"/>
          <p:nvPr/>
        </p:nvSpPr>
        <p:spPr>
          <a:xfrm>
            <a:off x="731520" y="26334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9" name="Text 7"/>
          <p:cNvSpPr txBox="1"/>
          <p:nvPr/>
        </p:nvSpPr>
        <p:spPr>
          <a:xfrm>
            <a:off x="1371600" y="2587752"/>
            <a:ext cx="4206240" cy="868680"/>
          </a:xfrm>
          <a:prstGeom prst="rect">
            <a:avLst/>
          </a:prstGeom>
          <a:noFill/>
          <a:ln/>
        </p:spPr>
        <p:txBody>
          <a:bodyPr wrap="square" lIns="0" tIns="0" rIns="0" bIns="0" rtlCol="0" anchor="ctr"/>
          <a:lstStyle/>
          <a:p>
            <a:pPr indent="0" marL="0">
              <a:lnSpc>
                <a:spcPct val="110000"/>
              </a:lnSpc>
              <a:buNone/>
            </a:pPr>
            <a:r>
              <a:rPr lang="en-US" sz="1250" dirty="0">
                <a:solidFill>
                  <a:srgbClr val="333333"/>
                </a:solidFill>
                <a:latin typeface="Calibri" pitchFamily="34" charset="0"/>
                <a:ea typeface="Calibri" pitchFamily="34" charset="-122"/>
                <a:cs typeface="Calibri" pitchFamily="34" charset="-120"/>
              </a:rPr>
              <a:t>Merged DimProductCategory + DimProductSubCategory into DimProduct — one flat product dimension</a:t>
            </a:r>
            <a:endParaRPr lang="en-US" sz="1250" dirty="0"/>
          </a:p>
        </p:txBody>
      </p:sp>
      <p:sp>
        <p:nvSpPr>
          <p:cNvPr id="10" name="Shape 8"/>
          <p:cNvSpPr/>
          <p:nvPr/>
        </p:nvSpPr>
        <p:spPr>
          <a:xfrm>
            <a:off x="731520" y="3803904"/>
            <a:ext cx="457200" cy="457200"/>
          </a:xfrm>
          <a:prstGeom prst="ellipse">
            <a:avLst/>
          </a:prstGeom>
          <a:solidFill>
            <a:srgbClr val="F2994A"/>
          </a:solidFill>
          <a:ln/>
          <a:effectLst>
            <a:outerShdw sx="100000" sy="100000" kx="0" ky="0" algn="bl" rotWithShape="0" blurRad="76200" dist="38100" dir="5400000">
              <a:srgbClr val="000000">
                <a:alpha val="35000"/>
              </a:srgbClr>
            </a:outerShdw>
          </a:effectLst>
        </p:spPr>
      </p:sp>
      <p:sp>
        <p:nvSpPr>
          <p:cNvPr id="11" name="Text 9"/>
          <p:cNvSpPr txBox="1"/>
          <p:nvPr/>
        </p:nvSpPr>
        <p:spPr>
          <a:xfrm>
            <a:off x="731520" y="38039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2" name="Text 10"/>
          <p:cNvSpPr txBox="1"/>
          <p:nvPr/>
        </p:nvSpPr>
        <p:spPr>
          <a:xfrm>
            <a:off x="1371600" y="3758184"/>
            <a:ext cx="4206240" cy="868680"/>
          </a:xfrm>
          <a:prstGeom prst="rect">
            <a:avLst/>
          </a:prstGeom>
          <a:noFill/>
          <a:ln/>
        </p:spPr>
        <p:txBody>
          <a:bodyPr wrap="square" lIns="0" tIns="0" rIns="0" bIns="0" rtlCol="0" anchor="ctr"/>
          <a:lstStyle/>
          <a:p>
            <a:pPr indent="0" marL="0">
              <a:lnSpc>
                <a:spcPct val="110000"/>
              </a:lnSpc>
              <a:buNone/>
            </a:pPr>
            <a:r>
              <a:rPr lang="en-US" sz="1250" dirty="0">
                <a:solidFill>
                  <a:srgbClr val="333333"/>
                </a:solidFill>
                <a:latin typeface="Calibri" pitchFamily="34" charset="0"/>
                <a:ea typeface="Calibri" pitchFamily="34" charset="-122"/>
                <a:cs typeface="Calibri" pitchFamily="34" charset="-120"/>
              </a:rPr>
              <a:t>Joined Sales directly to DimCustomer, DimDate, DimProduct, and DimSalesTerritory</a:t>
            </a:r>
            <a:endParaRPr lang="en-US" sz="1250" dirty="0"/>
          </a:p>
        </p:txBody>
      </p:sp>
      <p:sp>
        <p:nvSpPr>
          <p:cNvPr id="13" name="Shape 11"/>
          <p:cNvSpPr/>
          <p:nvPr/>
        </p:nvSpPr>
        <p:spPr>
          <a:xfrm>
            <a:off x="731520" y="4974336"/>
            <a:ext cx="457200" cy="457200"/>
          </a:xfrm>
          <a:prstGeom prst="ellipse">
            <a:avLst/>
          </a:prstGeom>
          <a:solidFill>
            <a:srgbClr val="F2994A"/>
          </a:solidFill>
          <a:ln/>
          <a:effectLst>
            <a:outerShdw sx="100000" sy="100000" kx="0" ky="0" algn="bl" rotWithShape="0" blurRad="76200" dist="38100" dir="5400000">
              <a:srgbClr val="000000">
                <a:alpha val="35000"/>
              </a:srgbClr>
            </a:outerShdw>
          </a:effectLst>
        </p:spPr>
      </p:sp>
      <p:sp>
        <p:nvSpPr>
          <p:cNvPr id="14" name="Text 12"/>
          <p:cNvSpPr txBox="1"/>
          <p:nvPr/>
        </p:nvSpPr>
        <p:spPr>
          <a:xfrm>
            <a:off x="731520" y="49743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5" name="Text 13"/>
          <p:cNvSpPr txBox="1"/>
          <p:nvPr/>
        </p:nvSpPr>
        <p:spPr>
          <a:xfrm>
            <a:off x="1371600" y="4928616"/>
            <a:ext cx="4206240" cy="868680"/>
          </a:xfrm>
          <a:prstGeom prst="rect">
            <a:avLst/>
          </a:prstGeom>
          <a:noFill/>
          <a:ln/>
        </p:spPr>
        <p:txBody>
          <a:bodyPr wrap="square" lIns="0" tIns="0" rIns="0" bIns="0" rtlCol="0" anchor="ctr"/>
          <a:lstStyle/>
          <a:p>
            <a:pPr indent="0" marL="0">
              <a:lnSpc>
                <a:spcPct val="110000"/>
              </a:lnSpc>
              <a:buNone/>
            </a:pPr>
            <a:r>
              <a:rPr lang="en-US" sz="1250" dirty="0">
                <a:solidFill>
                  <a:srgbClr val="333333"/>
                </a:solidFill>
                <a:latin typeface="Calibri" pitchFamily="34" charset="0"/>
                <a:ea typeface="Calibri" pitchFamily="34" charset="-122"/>
                <a:cs typeface="Calibri" pitchFamily="34" charset="-120"/>
              </a:rPr>
              <a:t>Built calculated fields: Sales Amount, Production Cost, Profit, and 8 date-part breakdowns</a:t>
            </a:r>
            <a:endParaRPr lang="en-US" sz="1250" dirty="0"/>
          </a:p>
        </p:txBody>
      </p:sp>
      <p:sp>
        <p:nvSpPr>
          <p:cNvPr id="16" name="Shape 14"/>
          <p:cNvSpPr/>
          <p:nvPr/>
        </p:nvSpPr>
        <p:spPr>
          <a:xfrm>
            <a:off x="9052560" y="1783080"/>
            <a:ext cx="0" cy="2011680"/>
          </a:xfrm>
          <a:prstGeom prst="line">
            <a:avLst/>
          </a:prstGeom>
          <a:noFill/>
          <a:ln w="22225">
            <a:solidFill>
              <a:srgbClr val="B9C4D6"/>
            </a:solidFill>
            <a:prstDash val="solid"/>
          </a:ln>
        </p:spPr>
      </p:sp>
      <p:sp>
        <p:nvSpPr>
          <p:cNvPr id="17" name="Shape 15"/>
          <p:cNvSpPr/>
          <p:nvPr/>
        </p:nvSpPr>
        <p:spPr>
          <a:xfrm>
            <a:off x="7360920" y="3794760"/>
            <a:ext cx="1691640" cy="0"/>
          </a:xfrm>
          <a:prstGeom prst="line">
            <a:avLst/>
          </a:prstGeom>
          <a:noFill/>
          <a:ln w="22225">
            <a:solidFill>
              <a:srgbClr val="B9C4D6"/>
            </a:solidFill>
            <a:prstDash val="solid"/>
          </a:ln>
        </p:spPr>
      </p:sp>
      <p:sp>
        <p:nvSpPr>
          <p:cNvPr id="18" name="Shape 16"/>
          <p:cNvSpPr/>
          <p:nvPr/>
        </p:nvSpPr>
        <p:spPr>
          <a:xfrm>
            <a:off x="9052560" y="3794760"/>
            <a:ext cx="1691640" cy="0"/>
          </a:xfrm>
          <a:prstGeom prst="line">
            <a:avLst/>
          </a:prstGeom>
          <a:noFill/>
          <a:ln w="22225">
            <a:solidFill>
              <a:srgbClr val="B9C4D6"/>
            </a:solidFill>
            <a:prstDash val="solid"/>
          </a:ln>
        </p:spPr>
      </p:sp>
      <p:sp>
        <p:nvSpPr>
          <p:cNvPr id="19" name="Shape 17"/>
          <p:cNvSpPr/>
          <p:nvPr/>
        </p:nvSpPr>
        <p:spPr>
          <a:xfrm>
            <a:off x="9052560" y="3794760"/>
            <a:ext cx="0" cy="2011680"/>
          </a:xfrm>
          <a:prstGeom prst="line">
            <a:avLst/>
          </a:prstGeom>
          <a:noFill/>
          <a:ln w="22225">
            <a:solidFill>
              <a:srgbClr val="B9C4D6"/>
            </a:solidFill>
            <a:prstDash val="solid"/>
          </a:ln>
        </p:spPr>
      </p:sp>
      <p:sp>
        <p:nvSpPr>
          <p:cNvPr id="20" name="Shape 18"/>
          <p:cNvSpPr/>
          <p:nvPr/>
        </p:nvSpPr>
        <p:spPr>
          <a:xfrm>
            <a:off x="8183880" y="3429000"/>
            <a:ext cx="1737360" cy="731520"/>
          </a:xfrm>
          <a:prstGeom prst="roundRect">
            <a:avLst>
              <a:gd name="adj" fmla="val 10000"/>
            </a:avLst>
          </a:prstGeom>
          <a:solidFill>
            <a:srgbClr val="F2994A"/>
          </a:solidFill>
          <a:ln/>
          <a:effectLst>
            <a:outerShdw sx="100000" sy="100000" kx="0" ky="0" algn="bl" rotWithShape="0" blurRad="76200" dist="38100" dir="5400000">
              <a:srgbClr val="000000">
                <a:alpha val="35000"/>
              </a:srgbClr>
            </a:outerShdw>
          </a:effectLst>
        </p:spPr>
      </p:sp>
      <p:sp>
        <p:nvSpPr>
          <p:cNvPr id="21" name="Text 19"/>
          <p:cNvSpPr txBox="1"/>
          <p:nvPr/>
        </p:nvSpPr>
        <p:spPr>
          <a:xfrm>
            <a:off x="8183880" y="3429000"/>
            <a:ext cx="173736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Sales</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(Fact Table)</a:t>
            </a:r>
            <a:endParaRPr lang="en-US" sz="1200" dirty="0"/>
          </a:p>
        </p:txBody>
      </p:sp>
      <p:sp>
        <p:nvSpPr>
          <p:cNvPr id="22" name="Shape 20"/>
          <p:cNvSpPr/>
          <p:nvPr/>
        </p:nvSpPr>
        <p:spPr>
          <a:xfrm>
            <a:off x="8275320" y="1463040"/>
            <a:ext cx="1554480" cy="640080"/>
          </a:xfrm>
          <a:prstGeom prst="roundRect">
            <a:avLst>
              <a:gd name="adj" fmla="val 11429"/>
            </a:avLst>
          </a:prstGeom>
          <a:solidFill>
            <a:srgbClr val="13284D"/>
          </a:solidFill>
          <a:ln/>
          <a:effectLst>
            <a:outerShdw sx="100000" sy="100000" kx="0" ky="0" algn="bl" rotWithShape="0" blurRad="76200" dist="38100" dir="5400000">
              <a:srgbClr val="000000">
                <a:alpha val="35000"/>
              </a:srgbClr>
            </a:outerShdw>
          </a:effectLst>
        </p:spPr>
      </p:sp>
      <p:sp>
        <p:nvSpPr>
          <p:cNvPr id="23" name="Text 21"/>
          <p:cNvSpPr txBox="1"/>
          <p:nvPr/>
        </p:nvSpPr>
        <p:spPr>
          <a:xfrm>
            <a:off x="8275320" y="1463040"/>
            <a:ext cx="1554480" cy="64008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DimCustomer</a:t>
            </a:r>
            <a:endParaRPr lang="en-US" sz="1150" dirty="0"/>
          </a:p>
        </p:txBody>
      </p:sp>
      <p:sp>
        <p:nvSpPr>
          <p:cNvPr id="24" name="Shape 22"/>
          <p:cNvSpPr/>
          <p:nvPr/>
        </p:nvSpPr>
        <p:spPr>
          <a:xfrm>
            <a:off x="6583680" y="3474720"/>
            <a:ext cx="1554480" cy="640080"/>
          </a:xfrm>
          <a:prstGeom prst="roundRect">
            <a:avLst>
              <a:gd name="adj" fmla="val 11429"/>
            </a:avLst>
          </a:prstGeom>
          <a:solidFill>
            <a:srgbClr val="13284D"/>
          </a:solidFill>
          <a:ln/>
          <a:effectLst>
            <a:outerShdw sx="100000" sy="100000" kx="0" ky="0" algn="bl" rotWithShape="0" blurRad="76200" dist="38100" dir="5400000">
              <a:srgbClr val="000000">
                <a:alpha val="35000"/>
              </a:srgbClr>
            </a:outerShdw>
          </a:effectLst>
        </p:spPr>
      </p:sp>
      <p:sp>
        <p:nvSpPr>
          <p:cNvPr id="25" name="Text 23"/>
          <p:cNvSpPr txBox="1"/>
          <p:nvPr/>
        </p:nvSpPr>
        <p:spPr>
          <a:xfrm>
            <a:off x="6583680" y="3474720"/>
            <a:ext cx="1554480" cy="64008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DimProduct</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(merged)</a:t>
            </a:r>
            <a:endParaRPr lang="en-US" sz="1150" dirty="0"/>
          </a:p>
        </p:txBody>
      </p:sp>
      <p:sp>
        <p:nvSpPr>
          <p:cNvPr id="26" name="Shape 24"/>
          <p:cNvSpPr/>
          <p:nvPr/>
        </p:nvSpPr>
        <p:spPr>
          <a:xfrm>
            <a:off x="9966960" y="3474720"/>
            <a:ext cx="1554480" cy="640080"/>
          </a:xfrm>
          <a:prstGeom prst="roundRect">
            <a:avLst>
              <a:gd name="adj" fmla="val 11429"/>
            </a:avLst>
          </a:prstGeom>
          <a:solidFill>
            <a:srgbClr val="13284D"/>
          </a:solidFill>
          <a:ln/>
          <a:effectLst>
            <a:outerShdw sx="100000" sy="100000" kx="0" ky="0" algn="bl" rotWithShape="0" blurRad="76200" dist="38100" dir="5400000">
              <a:srgbClr val="000000">
                <a:alpha val="35000"/>
              </a:srgbClr>
            </a:outerShdw>
          </a:effectLst>
        </p:spPr>
      </p:sp>
      <p:sp>
        <p:nvSpPr>
          <p:cNvPr id="27" name="Text 25"/>
          <p:cNvSpPr txBox="1"/>
          <p:nvPr/>
        </p:nvSpPr>
        <p:spPr>
          <a:xfrm>
            <a:off x="9966960" y="3474720"/>
            <a:ext cx="1554480" cy="64008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DimDate</a:t>
            </a:r>
            <a:endParaRPr lang="en-US" sz="1150" dirty="0"/>
          </a:p>
        </p:txBody>
      </p:sp>
      <p:sp>
        <p:nvSpPr>
          <p:cNvPr id="28" name="Shape 26"/>
          <p:cNvSpPr/>
          <p:nvPr/>
        </p:nvSpPr>
        <p:spPr>
          <a:xfrm>
            <a:off x="8275320" y="5486400"/>
            <a:ext cx="1554480" cy="640080"/>
          </a:xfrm>
          <a:prstGeom prst="roundRect">
            <a:avLst>
              <a:gd name="adj" fmla="val 11429"/>
            </a:avLst>
          </a:prstGeom>
          <a:solidFill>
            <a:srgbClr val="13284D"/>
          </a:solidFill>
          <a:ln/>
          <a:effectLst>
            <a:outerShdw sx="100000" sy="100000" kx="0" ky="0" algn="bl" rotWithShape="0" blurRad="76200" dist="38100" dir="5400000">
              <a:srgbClr val="000000">
                <a:alpha val="35000"/>
              </a:srgbClr>
            </a:outerShdw>
          </a:effectLst>
        </p:spPr>
      </p:sp>
      <p:sp>
        <p:nvSpPr>
          <p:cNvPr id="29" name="Text 27"/>
          <p:cNvSpPr txBox="1"/>
          <p:nvPr/>
        </p:nvSpPr>
        <p:spPr>
          <a:xfrm>
            <a:off x="8275320" y="5486400"/>
            <a:ext cx="1554480" cy="64008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DimSalesTerritory</a:t>
            </a:r>
            <a:endParaRPr lang="en-US" sz="1150" dirty="0"/>
          </a:p>
        </p:txBody>
      </p:sp>
      <p:sp>
        <p:nvSpPr>
          <p:cNvPr id="90" name="PBI Note"/>
          <p:cNvSpPr txBox="1"/>
          <p:nvPr/>
        </p:nvSpPr>
        <p:spPr>
          <a:xfrm>
            <a:off x="731520" y="6280000"/>
            <a:ext cx="10698480" cy="360000"/>
          </a:xfrm>
          <a:prstGeom prst="rect">
            <a:avLst/>
          </a:prstGeom>
          <a:noFill/>
          <a:ln/>
        </p:spPr>
        <p:txBody>
          <a:bodyPr wrap="square" lIns="0" tIns="0" rIns="0" bIns="0" rtlCol="0" anchor="ctr"/>
          <a:lstStyle/>
          <a:p>
            <a:pPr indent="0" marL="0">
              <a:buNone/>
            </a:pPr>
            <a:r>
              <a:rPr lang="en-US" sz="1150" i="1" dirty="0">
                <a:solidFill>
                  <a:srgbClr val="6B7A99"/>
                </a:solidFill>
                <a:latin typeface="Calibri" pitchFamily="34" charset="0"/>
                <a:ea typeface="Calibri" pitchFamily="34" charset="-122"/>
                <a:cs typeface="Calibri" pitchFamily="34" charset="-120"/>
              </a:rPr>
              <a:t>The same star-schema model was replicated in Power BI, with ETL and transformations handled via Power Query.</a:t>
            </a:r>
            <a:endParaRPr lang="en-US" sz="1150"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1F3F"/>
          </a:solidFill>
          <a:ln/>
        </p:spPr>
      </p:sp>
      <p:sp>
        <p:nvSpPr>
          <p:cNvPr id="3" name="Text 1"/>
          <p:cNvSpPr txBox="1"/>
          <p:nvPr/>
        </p:nvSpPr>
        <p:spPr>
          <a:xfrm>
            <a:off x="731520" y="201168"/>
            <a:ext cx="1069848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Key Performance Insights</a:t>
            </a:r>
            <a:endParaRPr lang="en-US" sz="2800" dirty="0"/>
          </a:p>
        </p:txBody>
      </p:sp>
      <p:sp>
        <p:nvSpPr>
          <p:cNvPr id="4" name="Shape 2"/>
          <p:cNvSpPr/>
          <p:nvPr/>
        </p:nvSpPr>
        <p:spPr>
          <a:xfrm>
            <a:off x="731520" y="1325880"/>
            <a:ext cx="1998878" cy="914400"/>
          </a:xfrm>
          <a:prstGeom prst="roundRect">
            <a:avLst>
              <a:gd name="adj" fmla="val 9000"/>
            </a:avLst>
          </a:prstGeom>
          <a:solidFill>
            <a:srgbClr val="13284D"/>
          </a:solidFill>
          <a:ln/>
          <a:effectLst>
            <a:outerShdw sx="100000" sy="100000" kx="0" ky="0" algn="bl" rotWithShape="0" blurRad="76200" dist="38100" dir="5400000">
              <a:srgbClr val="000000">
                <a:alpha val="35000"/>
              </a:srgbClr>
            </a:outerShdw>
          </a:effectLst>
        </p:spPr>
      </p:sp>
      <p:sp>
        <p:nvSpPr>
          <p:cNvPr id="5" name="Text 3"/>
          <p:cNvSpPr txBox="1"/>
          <p:nvPr/>
        </p:nvSpPr>
        <p:spPr>
          <a:xfrm>
            <a:off x="731520" y="1444752"/>
            <a:ext cx="1998878"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₹29.36M</a:t>
            </a:r>
            <a:endParaRPr lang="en-US" sz="1900" dirty="0"/>
          </a:p>
        </p:txBody>
      </p:sp>
      <p:sp>
        <p:nvSpPr>
          <p:cNvPr id="6" name="Text 4"/>
          <p:cNvSpPr txBox="1"/>
          <p:nvPr/>
        </p:nvSpPr>
        <p:spPr>
          <a:xfrm>
            <a:off x="731520" y="1892808"/>
            <a:ext cx="1998878" cy="292608"/>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Total Sales</a:t>
            </a:r>
            <a:endParaRPr lang="en-US" sz="1050" dirty="0"/>
          </a:p>
        </p:txBody>
      </p:sp>
      <p:sp>
        <p:nvSpPr>
          <p:cNvPr id="7" name="Shape 5"/>
          <p:cNvSpPr/>
          <p:nvPr/>
        </p:nvSpPr>
        <p:spPr>
          <a:xfrm>
            <a:off x="2913278" y="1325880"/>
            <a:ext cx="1998878" cy="914400"/>
          </a:xfrm>
          <a:prstGeom prst="roundRect">
            <a:avLst>
              <a:gd name="adj" fmla="val 9000"/>
            </a:avLst>
          </a:prstGeom>
          <a:solidFill>
            <a:srgbClr val="2F5C99"/>
          </a:solidFill>
          <a:ln/>
          <a:effectLst>
            <a:outerShdw sx="100000" sy="100000" kx="0" ky="0" algn="bl" rotWithShape="0" blurRad="76200" dist="38100" dir="5400000">
              <a:srgbClr val="000000">
                <a:alpha val="35000"/>
              </a:srgbClr>
            </a:outerShdw>
          </a:effectLst>
        </p:spPr>
      </p:sp>
      <p:sp>
        <p:nvSpPr>
          <p:cNvPr id="8" name="Text 6"/>
          <p:cNvSpPr txBox="1"/>
          <p:nvPr/>
        </p:nvSpPr>
        <p:spPr>
          <a:xfrm>
            <a:off x="2913278" y="1444752"/>
            <a:ext cx="1998878"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₹12.08M</a:t>
            </a:r>
            <a:endParaRPr lang="en-US" sz="1900" dirty="0"/>
          </a:p>
        </p:txBody>
      </p:sp>
      <p:sp>
        <p:nvSpPr>
          <p:cNvPr id="9" name="Text 7"/>
          <p:cNvSpPr txBox="1"/>
          <p:nvPr/>
        </p:nvSpPr>
        <p:spPr>
          <a:xfrm>
            <a:off x="2913278" y="1892808"/>
            <a:ext cx="1998878" cy="292608"/>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Total Profit</a:t>
            </a:r>
            <a:endParaRPr lang="en-US" sz="1050" dirty="0"/>
          </a:p>
        </p:txBody>
      </p:sp>
      <p:sp>
        <p:nvSpPr>
          <p:cNvPr id="10" name="Shape 8"/>
          <p:cNvSpPr/>
          <p:nvPr/>
        </p:nvSpPr>
        <p:spPr>
          <a:xfrm>
            <a:off x="5095037" y="1325880"/>
            <a:ext cx="1998878" cy="914400"/>
          </a:xfrm>
          <a:prstGeom prst="roundRect">
            <a:avLst>
              <a:gd name="adj" fmla="val 9000"/>
            </a:avLst>
          </a:prstGeom>
          <a:solidFill>
            <a:srgbClr val="3E6DB5"/>
          </a:solidFill>
          <a:ln/>
          <a:effectLst>
            <a:outerShdw sx="100000" sy="100000" kx="0" ky="0" algn="bl" rotWithShape="0" blurRad="76200" dist="38100" dir="5400000">
              <a:srgbClr val="000000">
                <a:alpha val="35000"/>
              </a:srgbClr>
            </a:outerShdw>
          </a:effectLst>
        </p:spPr>
      </p:sp>
      <p:sp>
        <p:nvSpPr>
          <p:cNvPr id="11" name="Text 9"/>
          <p:cNvSpPr txBox="1"/>
          <p:nvPr/>
        </p:nvSpPr>
        <p:spPr>
          <a:xfrm>
            <a:off x="5095037" y="1444752"/>
            <a:ext cx="1998878"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60.40K</a:t>
            </a:r>
            <a:endParaRPr lang="en-US" sz="1900" dirty="0"/>
          </a:p>
        </p:txBody>
      </p:sp>
      <p:sp>
        <p:nvSpPr>
          <p:cNvPr id="12" name="Text 10"/>
          <p:cNvSpPr txBox="1"/>
          <p:nvPr/>
        </p:nvSpPr>
        <p:spPr>
          <a:xfrm>
            <a:off x="5095037" y="1892808"/>
            <a:ext cx="1998878" cy="292608"/>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Total Orders</a:t>
            </a:r>
            <a:endParaRPr lang="en-US" sz="1050" dirty="0"/>
          </a:p>
        </p:txBody>
      </p:sp>
      <p:sp>
        <p:nvSpPr>
          <p:cNvPr id="13" name="Shape 11"/>
          <p:cNvSpPr/>
          <p:nvPr/>
        </p:nvSpPr>
        <p:spPr>
          <a:xfrm>
            <a:off x="7276795" y="1325880"/>
            <a:ext cx="1998878" cy="914400"/>
          </a:xfrm>
          <a:prstGeom prst="roundRect">
            <a:avLst>
              <a:gd name="adj" fmla="val 9000"/>
            </a:avLst>
          </a:prstGeom>
          <a:solidFill>
            <a:srgbClr val="2F5C99"/>
          </a:solidFill>
          <a:ln/>
          <a:effectLst>
            <a:outerShdw sx="100000" sy="100000" kx="0" ky="0" algn="bl" rotWithShape="0" blurRad="76200" dist="38100" dir="5400000">
              <a:srgbClr val="000000">
                <a:alpha val="35000"/>
              </a:srgbClr>
            </a:outerShdw>
          </a:effectLst>
        </p:spPr>
      </p:sp>
      <p:sp>
        <p:nvSpPr>
          <p:cNvPr id="14" name="Text 12"/>
          <p:cNvSpPr txBox="1"/>
          <p:nvPr/>
        </p:nvSpPr>
        <p:spPr>
          <a:xfrm>
            <a:off x="7276795" y="1444752"/>
            <a:ext cx="1998878"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41.15%</a:t>
            </a:r>
            <a:endParaRPr lang="en-US" sz="1900" dirty="0"/>
          </a:p>
        </p:txBody>
      </p:sp>
      <p:sp>
        <p:nvSpPr>
          <p:cNvPr id="15" name="Text 13"/>
          <p:cNvSpPr txBox="1"/>
          <p:nvPr/>
        </p:nvSpPr>
        <p:spPr>
          <a:xfrm>
            <a:off x="7276795" y="1892808"/>
            <a:ext cx="1998878" cy="292608"/>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Profit Margin</a:t>
            </a:r>
            <a:endParaRPr lang="en-US" sz="1050" dirty="0"/>
          </a:p>
        </p:txBody>
      </p:sp>
      <p:sp>
        <p:nvSpPr>
          <p:cNvPr id="16" name="Shape 14"/>
          <p:cNvSpPr/>
          <p:nvPr/>
        </p:nvSpPr>
        <p:spPr>
          <a:xfrm>
            <a:off x="9458554" y="1325880"/>
            <a:ext cx="1998878" cy="914400"/>
          </a:xfrm>
          <a:prstGeom prst="roundRect">
            <a:avLst>
              <a:gd name="adj" fmla="val 9000"/>
            </a:avLst>
          </a:prstGeom>
          <a:solidFill>
            <a:srgbClr val="13284D"/>
          </a:solidFill>
          <a:ln/>
          <a:effectLst>
            <a:outerShdw sx="100000" sy="100000" kx="0" ky="0" algn="bl" rotWithShape="0" blurRad="76200" dist="38100" dir="5400000">
              <a:srgbClr val="000000">
                <a:alpha val="35000"/>
              </a:srgbClr>
            </a:outerShdw>
          </a:effectLst>
        </p:spPr>
      </p:sp>
      <p:sp>
        <p:nvSpPr>
          <p:cNvPr id="17" name="Text 15"/>
          <p:cNvSpPr txBox="1"/>
          <p:nvPr/>
        </p:nvSpPr>
        <p:spPr>
          <a:xfrm>
            <a:off x="9458554" y="1444752"/>
            <a:ext cx="1998878"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₹486.09</a:t>
            </a:r>
            <a:endParaRPr lang="en-US" sz="1900" dirty="0"/>
          </a:p>
        </p:txBody>
      </p:sp>
      <p:sp>
        <p:nvSpPr>
          <p:cNvPr id="18" name="Text 16"/>
          <p:cNvSpPr txBox="1"/>
          <p:nvPr/>
        </p:nvSpPr>
        <p:spPr>
          <a:xfrm>
            <a:off x="9458554" y="1892808"/>
            <a:ext cx="1998878" cy="292608"/>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Avg Order Value</a:t>
            </a:r>
            <a:endParaRPr lang="en-US" sz="1050" dirty="0"/>
          </a:p>
        </p:txBody>
      </p:sp>
      <p:sp>
        <p:nvSpPr>
          <p:cNvPr id="19" name="Shape 17"/>
          <p:cNvSpPr/>
          <p:nvPr/>
        </p:nvSpPr>
        <p:spPr>
          <a:xfrm>
            <a:off x="731520" y="2514600"/>
            <a:ext cx="3422904" cy="1691640"/>
          </a:xfrm>
          <a:prstGeom prst="roundRect">
            <a:avLst>
              <a:gd name="adj" fmla="val 4324"/>
            </a:avLst>
          </a:prstGeom>
          <a:solidFill>
            <a:srgbClr val="F7F9FC"/>
          </a:solidFill>
          <a:ln/>
          <a:effectLst>
            <a:outerShdw sx="100000" sy="100000" kx="0" ky="0" algn="bl" rotWithShape="0" blurRad="76200" dist="38100" dir="5400000">
              <a:srgbClr val="000000">
                <a:alpha val="35000"/>
              </a:srgbClr>
            </a:outerShdw>
          </a:effectLst>
        </p:spPr>
      </p:sp>
      <p:sp>
        <p:nvSpPr>
          <p:cNvPr id="20" name="Shape 18"/>
          <p:cNvSpPr/>
          <p:nvPr/>
        </p:nvSpPr>
        <p:spPr>
          <a:xfrm>
            <a:off x="731520" y="2569464"/>
            <a:ext cx="64008" cy="1581912"/>
          </a:xfrm>
          <a:prstGeom prst="rect">
            <a:avLst/>
          </a:prstGeom>
          <a:solidFill>
            <a:srgbClr val="F2994A"/>
          </a:solidFill>
          <a:ln/>
        </p:spPr>
      </p:sp>
      <p:sp>
        <p:nvSpPr>
          <p:cNvPr id="21" name="Text 19"/>
          <p:cNvSpPr txBox="1"/>
          <p:nvPr/>
        </p:nvSpPr>
        <p:spPr>
          <a:xfrm>
            <a:off x="987552" y="2679192"/>
            <a:ext cx="2965704" cy="502920"/>
          </a:xfrm>
          <a:prstGeom prst="rect">
            <a:avLst/>
          </a:prstGeom>
          <a:noFill/>
          <a:ln/>
        </p:spPr>
        <p:txBody>
          <a:bodyPr wrap="square" lIns="0" tIns="0" rIns="0" bIns="0" rtlCol="0" anchor="ctr"/>
          <a:lstStyle/>
          <a:p>
            <a:pPr algn="l" indent="0" marL="0">
              <a:buNone/>
            </a:pPr>
            <a:r>
              <a:rPr lang="en-US" sz="1400" b="1" dirty="0">
                <a:solidFill>
                  <a:srgbClr val="0B1F3F"/>
                </a:solidFill>
                <a:latin typeface="Calibri" pitchFamily="34" charset="0"/>
                <a:ea typeface="Calibri" pitchFamily="34" charset="-122"/>
                <a:cs typeface="Calibri" pitchFamily="34" charset="-120"/>
              </a:rPr>
              <a:t>[1] Peak Year: 2013</a:t>
            </a:r>
            <a:endParaRPr lang="en-US" sz="1400" dirty="0"/>
          </a:p>
        </p:txBody>
      </p:sp>
      <p:sp>
        <p:nvSpPr>
          <p:cNvPr id="22" name="Text 20"/>
          <p:cNvSpPr txBox="1"/>
          <p:nvPr/>
        </p:nvSpPr>
        <p:spPr>
          <a:xfrm>
            <a:off x="987552" y="3172968"/>
            <a:ext cx="2965704" cy="868680"/>
          </a:xfrm>
          <a:prstGeom prst="rect">
            <a:avLst/>
          </a:prstGeom>
          <a:noFill/>
          <a:ln/>
        </p:spPr>
        <p:txBody>
          <a:bodyPr wrap="square" lIns="0" tIns="0" rIns="0" bIns="0" rtlCol="0" anchor="ctr"/>
          <a:lstStyle/>
          <a:p>
            <a:pPr algn="l" indent="0" marL="0">
              <a:lnSpc>
                <a:spcPct val="115000"/>
              </a:lnSpc>
              <a:buNone/>
            </a:pPr>
            <a:r>
              <a:rPr lang="en-US" sz="1100" dirty="0">
                <a:solidFill>
                  <a:srgbClr val="555555"/>
                </a:solidFill>
                <a:latin typeface="Calibri" pitchFamily="34" charset="0"/>
                <a:ea typeface="Calibri" pitchFamily="34" charset="-122"/>
                <a:cs typeface="Calibri" pitchFamily="34" charset="-120"/>
              </a:rPr>
              <a:t>2013 was the highest sales year at ₹16.35M — 2.8x higher than 2012.</a:t>
            </a:r>
            <a:endParaRPr lang="en-US" sz="1100" dirty="0"/>
          </a:p>
        </p:txBody>
      </p:sp>
      <p:sp>
        <p:nvSpPr>
          <p:cNvPr id="23" name="Shape 21"/>
          <p:cNvSpPr/>
          <p:nvPr/>
        </p:nvSpPr>
        <p:spPr>
          <a:xfrm>
            <a:off x="4383024" y="2514600"/>
            <a:ext cx="3422904" cy="1691640"/>
          </a:xfrm>
          <a:prstGeom prst="roundRect">
            <a:avLst>
              <a:gd name="adj" fmla="val 4324"/>
            </a:avLst>
          </a:prstGeom>
          <a:solidFill>
            <a:srgbClr val="F7F9FC"/>
          </a:solidFill>
          <a:ln/>
          <a:effectLst>
            <a:outerShdw sx="100000" sy="100000" kx="0" ky="0" algn="bl" rotWithShape="0" blurRad="76200" dist="38100" dir="5400000">
              <a:srgbClr val="000000">
                <a:alpha val="35000"/>
              </a:srgbClr>
            </a:outerShdw>
          </a:effectLst>
        </p:spPr>
      </p:sp>
      <p:sp>
        <p:nvSpPr>
          <p:cNvPr id="24" name="Shape 22"/>
          <p:cNvSpPr/>
          <p:nvPr/>
        </p:nvSpPr>
        <p:spPr>
          <a:xfrm>
            <a:off x="4383024" y="2569464"/>
            <a:ext cx="64008" cy="1581912"/>
          </a:xfrm>
          <a:prstGeom prst="rect">
            <a:avLst/>
          </a:prstGeom>
          <a:solidFill>
            <a:srgbClr val="F2994A"/>
          </a:solidFill>
          <a:ln/>
        </p:spPr>
      </p:sp>
      <p:sp>
        <p:nvSpPr>
          <p:cNvPr id="25" name="Text 23"/>
          <p:cNvSpPr txBox="1"/>
          <p:nvPr/>
        </p:nvSpPr>
        <p:spPr>
          <a:xfrm>
            <a:off x="4639056" y="2679192"/>
            <a:ext cx="2965704" cy="502920"/>
          </a:xfrm>
          <a:prstGeom prst="rect">
            <a:avLst/>
          </a:prstGeom>
          <a:noFill/>
          <a:ln/>
        </p:spPr>
        <p:txBody>
          <a:bodyPr wrap="square" lIns="0" tIns="0" rIns="0" bIns="0" rtlCol="0" anchor="ctr"/>
          <a:lstStyle/>
          <a:p>
            <a:pPr algn="l" indent="0" marL="0">
              <a:buNone/>
            </a:pPr>
            <a:r>
              <a:rPr lang="en-US" sz="1400" b="1" dirty="0">
                <a:solidFill>
                  <a:srgbClr val="0B1F3F"/>
                </a:solidFill>
                <a:latin typeface="Calibri" pitchFamily="34" charset="0"/>
                <a:ea typeface="Calibri" pitchFamily="34" charset="-122"/>
                <a:cs typeface="Calibri" pitchFamily="34" charset="-120"/>
              </a:rPr>
              <a:t>[2] Top Region: Australia</a:t>
            </a:r>
            <a:endParaRPr lang="en-US" sz="1400" dirty="0"/>
          </a:p>
        </p:txBody>
      </p:sp>
      <p:sp>
        <p:nvSpPr>
          <p:cNvPr id="26" name="Text 24"/>
          <p:cNvSpPr txBox="1"/>
          <p:nvPr/>
        </p:nvSpPr>
        <p:spPr>
          <a:xfrm>
            <a:off x="4639056" y="3172968"/>
            <a:ext cx="2965704" cy="868680"/>
          </a:xfrm>
          <a:prstGeom prst="rect">
            <a:avLst/>
          </a:prstGeom>
          <a:noFill/>
          <a:ln/>
        </p:spPr>
        <p:txBody>
          <a:bodyPr wrap="square" lIns="0" tIns="0" rIns="0" bIns="0" rtlCol="0" anchor="ctr"/>
          <a:lstStyle/>
          <a:p>
            <a:pPr algn="l" indent="0" marL="0">
              <a:lnSpc>
                <a:spcPct val="115000"/>
              </a:lnSpc>
              <a:buNone/>
            </a:pPr>
            <a:r>
              <a:rPr lang="en-US" sz="1100" dirty="0">
                <a:solidFill>
                  <a:srgbClr val="555555"/>
                </a:solidFill>
                <a:latin typeface="Calibri" pitchFamily="34" charset="0"/>
                <a:ea typeface="Calibri" pitchFamily="34" charset="-122"/>
                <a:cs typeface="Calibri" pitchFamily="34" charset="-120"/>
              </a:rPr>
              <a:t>Australia led all individual sales territories at ₹9.06M. Southwest was the top U.S. region at ₹5.72M.</a:t>
            </a:r>
            <a:endParaRPr lang="en-US" sz="1100" dirty="0"/>
          </a:p>
        </p:txBody>
      </p:sp>
      <p:sp>
        <p:nvSpPr>
          <p:cNvPr id="27" name="Shape 25"/>
          <p:cNvSpPr/>
          <p:nvPr/>
        </p:nvSpPr>
        <p:spPr>
          <a:xfrm>
            <a:off x="8034528" y="2514600"/>
            <a:ext cx="3422904" cy="1691640"/>
          </a:xfrm>
          <a:prstGeom prst="roundRect">
            <a:avLst>
              <a:gd name="adj" fmla="val 4324"/>
            </a:avLst>
          </a:prstGeom>
          <a:solidFill>
            <a:srgbClr val="F7F9FC"/>
          </a:solidFill>
          <a:ln/>
          <a:effectLst>
            <a:outerShdw sx="100000" sy="100000" kx="0" ky="0" algn="bl" rotWithShape="0" blurRad="76200" dist="38100" dir="5400000">
              <a:srgbClr val="000000">
                <a:alpha val="35000"/>
              </a:srgbClr>
            </a:outerShdw>
          </a:effectLst>
        </p:spPr>
      </p:sp>
      <p:sp>
        <p:nvSpPr>
          <p:cNvPr id="28" name="Shape 26"/>
          <p:cNvSpPr/>
          <p:nvPr/>
        </p:nvSpPr>
        <p:spPr>
          <a:xfrm>
            <a:off x="8034528" y="2569464"/>
            <a:ext cx="64008" cy="1581912"/>
          </a:xfrm>
          <a:prstGeom prst="rect">
            <a:avLst/>
          </a:prstGeom>
          <a:solidFill>
            <a:srgbClr val="F2994A"/>
          </a:solidFill>
          <a:ln/>
        </p:spPr>
      </p:sp>
      <p:sp>
        <p:nvSpPr>
          <p:cNvPr id="29" name="Text 27"/>
          <p:cNvSpPr txBox="1"/>
          <p:nvPr/>
        </p:nvSpPr>
        <p:spPr>
          <a:xfrm>
            <a:off x="8290560" y="2679192"/>
            <a:ext cx="2965704" cy="502920"/>
          </a:xfrm>
          <a:prstGeom prst="rect">
            <a:avLst/>
          </a:prstGeom>
          <a:noFill/>
          <a:ln/>
        </p:spPr>
        <p:txBody>
          <a:bodyPr wrap="square" lIns="0" tIns="0" rIns="0" bIns="0" rtlCol="0" anchor="ctr"/>
          <a:lstStyle/>
          <a:p>
            <a:pPr algn="l" indent="0" marL="0">
              <a:buNone/>
            </a:pPr>
            <a:r>
              <a:rPr lang="en-US" sz="1400" b="1" dirty="0">
                <a:solidFill>
                  <a:srgbClr val="0B1F3F"/>
                </a:solidFill>
                <a:latin typeface="Calibri" pitchFamily="34" charset="0"/>
                <a:ea typeface="Calibri" pitchFamily="34" charset="-122"/>
                <a:cs typeface="Calibri" pitchFamily="34" charset="-120"/>
              </a:rPr>
              <a:t>[3] Top Product: Mountain-200</a:t>
            </a:r>
            <a:endParaRPr lang="en-US" sz="1400" dirty="0"/>
          </a:p>
        </p:txBody>
      </p:sp>
      <p:sp>
        <p:nvSpPr>
          <p:cNvPr id="30" name="Text 28"/>
          <p:cNvSpPr txBox="1"/>
          <p:nvPr/>
        </p:nvSpPr>
        <p:spPr>
          <a:xfrm>
            <a:off x="8290560" y="3172968"/>
            <a:ext cx="2965704" cy="868680"/>
          </a:xfrm>
          <a:prstGeom prst="rect">
            <a:avLst/>
          </a:prstGeom>
          <a:noFill/>
          <a:ln/>
        </p:spPr>
        <p:txBody>
          <a:bodyPr wrap="square" lIns="0" tIns="0" rIns="0" bIns="0" rtlCol="0" anchor="ctr"/>
          <a:lstStyle/>
          <a:p>
            <a:pPr algn="l" indent="0" marL="0">
              <a:lnSpc>
                <a:spcPct val="115000"/>
              </a:lnSpc>
              <a:buNone/>
            </a:pPr>
            <a:r>
              <a:rPr lang="en-US" sz="1100" dirty="0">
                <a:solidFill>
                  <a:srgbClr val="555555"/>
                </a:solidFill>
                <a:latin typeface="Calibri" pitchFamily="34" charset="0"/>
                <a:ea typeface="Calibri" pitchFamily="34" charset="-122"/>
                <a:cs typeface="Calibri" pitchFamily="34" charset="-120"/>
              </a:rPr>
              <a:t>Mountain-200 Black (42) was the best seller at ₹1.37M. Mountain bikes dominate the top 5 products.</a:t>
            </a:r>
            <a:endParaRPr lang="en-US" sz="1100" dirty="0"/>
          </a:p>
        </p:txBody>
      </p:sp>
      <p:sp>
        <p:nvSpPr>
          <p:cNvPr id="31" name="Shape 29"/>
          <p:cNvSpPr/>
          <p:nvPr/>
        </p:nvSpPr>
        <p:spPr>
          <a:xfrm>
            <a:off x="731520" y="4434840"/>
            <a:ext cx="3422904" cy="1691640"/>
          </a:xfrm>
          <a:prstGeom prst="roundRect">
            <a:avLst>
              <a:gd name="adj" fmla="val 4324"/>
            </a:avLst>
          </a:prstGeom>
          <a:solidFill>
            <a:srgbClr val="F7F9FC"/>
          </a:solidFill>
          <a:ln/>
          <a:effectLst>
            <a:outerShdw sx="100000" sy="100000" kx="0" ky="0" algn="bl" rotWithShape="0" blurRad="76200" dist="38100" dir="5400000">
              <a:srgbClr val="000000">
                <a:alpha val="35000"/>
              </a:srgbClr>
            </a:outerShdw>
          </a:effectLst>
        </p:spPr>
      </p:sp>
      <p:sp>
        <p:nvSpPr>
          <p:cNvPr id="32" name="Shape 30"/>
          <p:cNvSpPr/>
          <p:nvPr/>
        </p:nvSpPr>
        <p:spPr>
          <a:xfrm>
            <a:off x="731520" y="4489704"/>
            <a:ext cx="64008" cy="1581912"/>
          </a:xfrm>
          <a:prstGeom prst="rect">
            <a:avLst/>
          </a:prstGeom>
          <a:solidFill>
            <a:srgbClr val="F2994A"/>
          </a:solidFill>
          <a:ln/>
        </p:spPr>
      </p:sp>
      <p:sp>
        <p:nvSpPr>
          <p:cNvPr id="33" name="Text 31"/>
          <p:cNvSpPr txBox="1"/>
          <p:nvPr/>
        </p:nvSpPr>
        <p:spPr>
          <a:xfrm>
            <a:off x="987552" y="4599432"/>
            <a:ext cx="2965704" cy="502920"/>
          </a:xfrm>
          <a:prstGeom prst="rect">
            <a:avLst/>
          </a:prstGeom>
          <a:noFill/>
          <a:ln/>
        </p:spPr>
        <p:txBody>
          <a:bodyPr wrap="square" lIns="0" tIns="0" rIns="0" bIns="0" rtlCol="0" anchor="ctr"/>
          <a:lstStyle/>
          <a:p>
            <a:pPr algn="l" indent="0" marL="0">
              <a:buNone/>
            </a:pPr>
            <a:r>
              <a:rPr lang="en-US" sz="1400" b="1" dirty="0">
                <a:solidFill>
                  <a:srgbClr val="0B1F3F"/>
                </a:solidFill>
                <a:latin typeface="Calibri" pitchFamily="34" charset="0"/>
                <a:ea typeface="Calibri" pitchFamily="34" charset="-122"/>
                <a:cs typeface="Calibri" pitchFamily="34" charset="-120"/>
              </a:rPr>
              <a:t>[4] Top Customer: Jordan Turner</a:t>
            </a:r>
            <a:endParaRPr lang="en-US" sz="1400" dirty="0"/>
          </a:p>
        </p:txBody>
      </p:sp>
      <p:sp>
        <p:nvSpPr>
          <p:cNvPr id="34" name="Text 32"/>
          <p:cNvSpPr txBox="1"/>
          <p:nvPr/>
        </p:nvSpPr>
        <p:spPr>
          <a:xfrm>
            <a:off x="987552" y="5093208"/>
            <a:ext cx="2965704" cy="868680"/>
          </a:xfrm>
          <a:prstGeom prst="rect">
            <a:avLst/>
          </a:prstGeom>
          <a:noFill/>
          <a:ln/>
        </p:spPr>
        <p:txBody>
          <a:bodyPr wrap="square" lIns="0" tIns="0" rIns="0" bIns="0" rtlCol="0" anchor="ctr"/>
          <a:lstStyle/>
          <a:p>
            <a:pPr algn="l" indent="0" marL="0">
              <a:lnSpc>
                <a:spcPct val="115000"/>
              </a:lnSpc>
              <a:buNone/>
            </a:pPr>
            <a:r>
              <a:rPr lang="en-US" sz="1100" dirty="0">
                <a:solidFill>
                  <a:srgbClr val="555555"/>
                </a:solidFill>
                <a:latin typeface="Calibri" pitchFamily="34" charset="0"/>
                <a:ea typeface="Calibri" pitchFamily="34" charset="-122"/>
                <a:cs typeface="Calibri" pitchFamily="34" charset="-120"/>
              </a:rPr>
              <a:t>Leads with ₹15,999 in purchases. Top 5 customers are closely ranked between ₹13.2K–16.0K.</a:t>
            </a:r>
            <a:endParaRPr lang="en-US" sz="1100" dirty="0"/>
          </a:p>
        </p:txBody>
      </p:sp>
      <p:sp>
        <p:nvSpPr>
          <p:cNvPr id="35" name="Shape 33"/>
          <p:cNvSpPr/>
          <p:nvPr/>
        </p:nvSpPr>
        <p:spPr>
          <a:xfrm>
            <a:off x="4383024" y="4434840"/>
            <a:ext cx="3422904" cy="1691640"/>
          </a:xfrm>
          <a:prstGeom prst="roundRect">
            <a:avLst>
              <a:gd name="adj" fmla="val 4324"/>
            </a:avLst>
          </a:prstGeom>
          <a:solidFill>
            <a:srgbClr val="F7F9FC"/>
          </a:solidFill>
          <a:ln/>
          <a:effectLst>
            <a:outerShdw sx="100000" sy="100000" kx="0" ky="0" algn="bl" rotWithShape="0" blurRad="76200" dist="38100" dir="5400000">
              <a:srgbClr val="000000">
                <a:alpha val="35000"/>
              </a:srgbClr>
            </a:outerShdw>
          </a:effectLst>
        </p:spPr>
      </p:sp>
      <p:sp>
        <p:nvSpPr>
          <p:cNvPr id="36" name="Shape 34"/>
          <p:cNvSpPr/>
          <p:nvPr/>
        </p:nvSpPr>
        <p:spPr>
          <a:xfrm>
            <a:off x="4383024" y="4489704"/>
            <a:ext cx="64008" cy="1581912"/>
          </a:xfrm>
          <a:prstGeom prst="rect">
            <a:avLst/>
          </a:prstGeom>
          <a:solidFill>
            <a:srgbClr val="F2994A"/>
          </a:solidFill>
          <a:ln/>
        </p:spPr>
      </p:sp>
      <p:sp>
        <p:nvSpPr>
          <p:cNvPr id="37" name="Text 35"/>
          <p:cNvSpPr txBox="1"/>
          <p:nvPr/>
        </p:nvSpPr>
        <p:spPr>
          <a:xfrm>
            <a:off x="4639056" y="4599432"/>
            <a:ext cx="2965704" cy="502920"/>
          </a:xfrm>
          <a:prstGeom prst="rect">
            <a:avLst/>
          </a:prstGeom>
          <a:noFill/>
          <a:ln/>
        </p:spPr>
        <p:txBody>
          <a:bodyPr wrap="square" lIns="0" tIns="0" rIns="0" bIns="0" rtlCol="0" anchor="ctr"/>
          <a:lstStyle/>
          <a:p>
            <a:pPr algn="l" indent="0" marL="0">
              <a:buNone/>
            </a:pPr>
            <a:r>
              <a:rPr lang="en-US" sz="1400" b="1" dirty="0">
                <a:solidFill>
                  <a:srgbClr val="0B1F3F"/>
                </a:solidFill>
                <a:latin typeface="Calibri" pitchFamily="34" charset="0"/>
                <a:ea typeface="Calibri" pitchFamily="34" charset="-122"/>
                <a:cs typeface="Calibri" pitchFamily="34" charset="-120"/>
              </a:rPr>
              <a:t>[5] Q4 Peaks Sales</a:t>
            </a:r>
            <a:endParaRPr lang="en-US" sz="1400" dirty="0"/>
          </a:p>
        </p:txBody>
      </p:sp>
      <p:sp>
        <p:nvSpPr>
          <p:cNvPr id="38" name="Text 36"/>
          <p:cNvSpPr txBox="1"/>
          <p:nvPr/>
        </p:nvSpPr>
        <p:spPr>
          <a:xfrm>
            <a:off x="4639056" y="5093208"/>
            <a:ext cx="2965704" cy="868680"/>
          </a:xfrm>
          <a:prstGeom prst="rect">
            <a:avLst/>
          </a:prstGeom>
          <a:noFill/>
          <a:ln/>
        </p:spPr>
        <p:txBody>
          <a:bodyPr wrap="square" lIns="0" tIns="0" rIns="0" bIns="0" rtlCol="0" anchor="ctr"/>
          <a:lstStyle/>
          <a:p>
            <a:pPr algn="l" indent="0" marL="0">
              <a:lnSpc>
                <a:spcPct val="115000"/>
              </a:lnSpc>
              <a:buNone/>
            </a:pPr>
            <a:r>
              <a:rPr lang="en-US" sz="1100" dirty="0">
                <a:solidFill>
                  <a:srgbClr val="555555"/>
                </a:solidFill>
                <a:latin typeface="Calibri" pitchFamily="34" charset="0"/>
                <a:ea typeface="Calibri" pitchFamily="34" charset="-122"/>
                <a:cs typeface="Calibri" pitchFamily="34" charset="-120"/>
              </a:rPr>
              <a:t>Q4 was the strongest quarter in every complete year of data (2011–2013).</a:t>
            </a:r>
            <a:endParaRPr lang="en-US" sz="1100" dirty="0"/>
          </a:p>
        </p:txBody>
      </p:sp>
      <p:sp>
        <p:nvSpPr>
          <p:cNvPr id="39" name="Shape 37"/>
          <p:cNvSpPr/>
          <p:nvPr/>
        </p:nvSpPr>
        <p:spPr>
          <a:xfrm>
            <a:off x="8034528" y="4434840"/>
            <a:ext cx="3422904" cy="1691640"/>
          </a:xfrm>
          <a:prstGeom prst="roundRect">
            <a:avLst>
              <a:gd name="adj" fmla="val 4324"/>
            </a:avLst>
          </a:prstGeom>
          <a:solidFill>
            <a:srgbClr val="F7F9FC"/>
          </a:solidFill>
          <a:ln/>
          <a:effectLst>
            <a:outerShdw sx="100000" sy="100000" kx="0" ky="0" algn="bl" rotWithShape="0" blurRad="76200" dist="38100" dir="5400000">
              <a:srgbClr val="000000">
                <a:alpha val="35000"/>
              </a:srgbClr>
            </a:outerShdw>
          </a:effectLst>
        </p:spPr>
      </p:sp>
      <p:sp>
        <p:nvSpPr>
          <p:cNvPr id="40" name="Shape 38"/>
          <p:cNvSpPr/>
          <p:nvPr/>
        </p:nvSpPr>
        <p:spPr>
          <a:xfrm>
            <a:off x="8034528" y="4489704"/>
            <a:ext cx="64008" cy="1581912"/>
          </a:xfrm>
          <a:prstGeom prst="rect">
            <a:avLst/>
          </a:prstGeom>
          <a:solidFill>
            <a:srgbClr val="F2994A"/>
          </a:solidFill>
          <a:ln/>
        </p:spPr>
      </p:sp>
      <p:sp>
        <p:nvSpPr>
          <p:cNvPr id="41" name="Text 39"/>
          <p:cNvSpPr txBox="1"/>
          <p:nvPr/>
        </p:nvSpPr>
        <p:spPr>
          <a:xfrm>
            <a:off x="8290560" y="4599432"/>
            <a:ext cx="2965704" cy="502920"/>
          </a:xfrm>
          <a:prstGeom prst="rect">
            <a:avLst/>
          </a:prstGeom>
          <a:noFill/>
          <a:ln/>
        </p:spPr>
        <p:txBody>
          <a:bodyPr wrap="square" lIns="0" tIns="0" rIns="0" bIns="0" rtlCol="0" anchor="ctr"/>
          <a:lstStyle/>
          <a:p>
            <a:pPr algn="l" indent="0" marL="0">
              <a:buNone/>
            </a:pPr>
            <a:r>
              <a:rPr lang="en-US" sz="1400" b="1" dirty="0">
                <a:solidFill>
                  <a:srgbClr val="0B1F3F"/>
                </a:solidFill>
                <a:latin typeface="Calibri" pitchFamily="34" charset="0"/>
                <a:ea typeface="Calibri" pitchFamily="34" charset="-122"/>
                <a:cs typeface="Calibri" pitchFamily="34" charset="-120"/>
              </a:rPr>
              <a:t>[6] Sales &gt; Cost Stability</a:t>
            </a:r>
            <a:endParaRPr lang="en-US" sz="1400" dirty="0"/>
          </a:p>
        </p:txBody>
      </p:sp>
      <p:sp>
        <p:nvSpPr>
          <p:cNvPr id="42" name="Text 40"/>
          <p:cNvSpPr txBox="1"/>
          <p:nvPr/>
        </p:nvSpPr>
        <p:spPr>
          <a:xfrm>
            <a:off x="8290560" y="5093208"/>
            <a:ext cx="2965704" cy="868680"/>
          </a:xfrm>
          <a:prstGeom prst="rect">
            <a:avLst/>
          </a:prstGeom>
          <a:noFill/>
          <a:ln/>
        </p:spPr>
        <p:txBody>
          <a:bodyPr wrap="square" lIns="0" tIns="0" rIns="0" bIns="0" rtlCol="0" anchor="ctr"/>
          <a:lstStyle/>
          <a:p>
            <a:pPr algn="l" indent="0" marL="0">
              <a:lnSpc>
                <a:spcPct val="115000"/>
              </a:lnSpc>
              <a:buNone/>
            </a:pPr>
            <a:r>
              <a:rPr lang="en-US" sz="1100" dirty="0">
                <a:solidFill>
                  <a:srgbClr val="555555"/>
                </a:solidFill>
                <a:latin typeface="Calibri" pitchFamily="34" charset="0"/>
                <a:ea typeface="Calibri" pitchFamily="34" charset="-122"/>
                <a:cs typeface="Calibri" pitchFamily="34" charset="-120"/>
              </a:rPr>
              <a:t>Production cost stays well below sales amount throughout — a healthy, stable 41.15% margin.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2026-09-04T07:31:09Z</dcterms:created>
  <dcterms:modified xsi:type="dcterms:W3CDTF">2026-09-04T07:31:10Z</dcterms:modified>
</cp:coreProperties>
</file>